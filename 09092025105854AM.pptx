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442" r:id="rId2"/>
    <p:sldId id="292" r:id="rId3"/>
    <p:sldId id="387" r:id="rId4"/>
    <p:sldId id="406" r:id="rId5"/>
    <p:sldId id="407" r:id="rId6"/>
    <p:sldId id="549" r:id="rId7"/>
    <p:sldId id="409" r:id="rId8"/>
    <p:sldId id="410" r:id="rId9"/>
    <p:sldId id="411" r:id="rId10"/>
    <p:sldId id="412" r:id="rId11"/>
    <p:sldId id="567" r:id="rId12"/>
    <p:sldId id="346" r:id="rId13"/>
    <p:sldId id="551" r:id="rId14"/>
    <p:sldId id="413" r:id="rId15"/>
    <p:sldId id="570" r:id="rId16"/>
    <p:sldId id="414" r:id="rId17"/>
    <p:sldId id="415" r:id="rId18"/>
    <p:sldId id="416" r:id="rId19"/>
    <p:sldId id="417" r:id="rId20"/>
    <p:sldId id="418" r:id="rId21"/>
    <p:sldId id="419" r:id="rId22"/>
    <p:sldId id="550" r:id="rId23"/>
    <p:sldId id="420" r:id="rId24"/>
    <p:sldId id="571" r:id="rId25"/>
    <p:sldId id="421" r:id="rId26"/>
    <p:sldId id="423" r:id="rId27"/>
    <p:sldId id="510" r:id="rId28"/>
    <p:sldId id="552" r:id="rId29"/>
    <p:sldId id="436" r:id="rId30"/>
    <p:sldId id="572" r:id="rId31"/>
    <p:sldId id="445" r:id="rId32"/>
    <p:sldId id="561" r:id="rId33"/>
    <p:sldId id="562" r:id="rId34"/>
    <p:sldId id="563" r:id="rId35"/>
    <p:sldId id="564" r:id="rId36"/>
    <p:sldId id="565" r:id="rId37"/>
    <p:sldId id="557" r:id="rId38"/>
    <p:sldId id="433" r:id="rId39"/>
    <p:sldId id="434" r:id="rId40"/>
    <p:sldId id="435" r:id="rId41"/>
    <p:sldId id="546" r:id="rId42"/>
    <p:sldId id="547" r:id="rId43"/>
    <p:sldId id="548" r:id="rId44"/>
    <p:sldId id="558" r:id="rId45"/>
    <p:sldId id="425" r:id="rId46"/>
    <p:sldId id="426" r:id="rId47"/>
    <p:sldId id="427" r:id="rId48"/>
    <p:sldId id="428" r:id="rId49"/>
    <p:sldId id="429" r:id="rId50"/>
    <p:sldId id="430" r:id="rId51"/>
    <p:sldId id="431" r:id="rId52"/>
    <p:sldId id="432" r:id="rId53"/>
    <p:sldId id="573" r:id="rId54"/>
    <p:sldId id="574" r:id="rId55"/>
    <p:sldId id="576" r:id="rId56"/>
    <p:sldId id="575" r:id="rId57"/>
    <p:sldId id="443" r:id="rId58"/>
  </p:sldIdLst>
  <p:sldSz cx="12192000" cy="6858000"/>
  <p:notesSz cx="6858000" cy="9144000"/>
  <p:embeddedFontLst>
    <p:embeddedFont>
      <p:font typeface="Calibri" panose="020F0502020204030204" pitchFamily="34" charset="0"/>
      <p:regular r:id="rId61"/>
      <p:bold r:id="rId62"/>
      <p:italic r:id="rId63"/>
      <p:boldItalic r:id="rId64"/>
    </p:embeddedFont>
    <p:embeddedFont>
      <p:font typeface="Consolas" panose="020B0609020204030204" pitchFamily="49" charset="0"/>
      <p:regular r:id="rId65"/>
      <p:bold r:id="rId66"/>
      <p:italic r:id="rId67"/>
      <p:boldItalic r:id="rId68"/>
    </p:embeddedFont>
    <p:embeddedFont>
      <p:font typeface="Wingdings 3" panose="05040102010807070707" pitchFamily="18" charset="2"/>
      <p:regular r:id="rId69"/>
    </p:embeddedFont>
    <p:embeddedFont>
      <p:font typeface="Segoe UI Black" panose="020B0A02040204020203" pitchFamily="34" charset="0"/>
      <p:bold r:id="rId70"/>
      <p:boldItalic r:id="rId71"/>
    </p:embeddedFont>
    <p:embeddedFont>
      <p:font typeface="Wingdings 2" panose="05020102010507070707" pitchFamily="18" charset="2"/>
      <p:regular r:id="rId72"/>
    </p:embeddedFont>
    <p:embeddedFont>
      <p:font typeface="Roboto Condensed" panose="02000000000000000000" pitchFamily="2" charset="0"/>
      <p:regular r:id="rId73"/>
      <p:bold r:id="rId74"/>
      <p:italic r:id="rId75"/>
      <p:boldItalic r:id="rId76"/>
    </p:embeddedFont>
    <p:embeddedFont>
      <p:font typeface="Roboto Condensed Light" panose="02000000000000000000" pitchFamily="2" charset="0"/>
      <p:regular r:id="rId77"/>
      <p:italic r:id="rId7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TQ636S05KK4jrZNebQSiRQ==" hashData="2I7v+MUBSahVcHM4pK0/fbXj1BldR3F+i6GUTJQgmoNq2gHn+x//Jt+GOy1AvkDfe7yeGE4FOVtD03gf3dk0+Q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0000"/>
    <a:srgbClr val="558ED5"/>
    <a:srgbClr val="B84742"/>
    <a:srgbClr val="0000FF"/>
    <a:srgbClr val="00FF00"/>
    <a:srgbClr val="16745B"/>
    <a:srgbClr val="007D8E"/>
    <a:srgbClr val="0F5140"/>
    <a:srgbClr val="007635"/>
    <a:srgbClr val="2FA0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938" autoAdjust="0"/>
  </p:normalViewPr>
  <p:slideViewPr>
    <p:cSldViewPr snapToGrid="0">
      <p:cViewPr varScale="1">
        <p:scale>
          <a:sx n="79" d="100"/>
          <a:sy n="79" d="100"/>
        </p:scale>
        <p:origin x="75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78"/>
    </p:cViewPr>
  </p:sorterViewPr>
  <p:notesViewPr>
    <p:cSldViewPr snapToGrid="0">
      <p:cViewPr varScale="1">
        <p:scale>
          <a:sx n="64" d="100"/>
          <a:sy n="64" d="100"/>
        </p:scale>
        <p:origin x="-314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4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1.fntdata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77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2.fntdata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font" Target="fonts/font10.fntdata"/><Relationship Id="rId75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65" Type="http://schemas.openxmlformats.org/officeDocument/2006/relationships/font" Target="fonts/font5.fntdata"/><Relationship Id="rId73" Type="http://schemas.openxmlformats.org/officeDocument/2006/relationships/font" Target="fonts/font13.fntdata"/><Relationship Id="rId78" Type="http://schemas.openxmlformats.org/officeDocument/2006/relationships/font" Target="fonts/font18.fnt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6.fntdata"/><Relationship Id="rId7" Type="http://schemas.openxmlformats.org/officeDocument/2006/relationships/slide" Target="slides/slide6.xml"/><Relationship Id="rId71" Type="http://schemas.openxmlformats.org/officeDocument/2006/relationships/font" Target="fonts/font1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06-09-2025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microsoft.com/office/2007/relationships/hdphoto" Target="../media/hdphoto2.wdp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3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7.jpeg"/><Relationship Id="rId5" Type="http://schemas.openxmlformats.org/officeDocument/2006/relationships/image" Target="../media/image3.png"/><Relationship Id="rId10" Type="http://schemas.openxmlformats.org/officeDocument/2006/relationships/image" Target="../media/image14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6194" y="1609868"/>
            <a:ext cx="2694401" cy="328178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162" y="307556"/>
            <a:ext cx="2704049" cy="82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162" y="307556"/>
            <a:ext cx="2704049" cy="82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678496" y="861192"/>
            <a:ext cx="2554142" cy="587454"/>
            <a:chOff x="9424496" y="8611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lnSpc>
                <a:spcPct val="114000"/>
              </a:lnSpc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lnSpc>
                <a:spcPct val="114000"/>
              </a:lnSpc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lnSpc>
                <a:spcPct val="114000"/>
              </a:lnSpc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lnSpc>
                <a:spcPct val="114000"/>
              </a:lnSpc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lnSpc>
                <a:spcPct val="114000"/>
              </a:lnSpc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4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FBAF5D9-5993-64D4-F670-23A958E5493D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926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Searching and Sorting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 userDrawn="1"/>
        </p:nvGrpSpPr>
        <p:grpSpPr>
          <a:xfrm>
            <a:off x="9792796" y="5890392"/>
            <a:ext cx="2554142" cy="587454"/>
            <a:chOff x="9475296" y="5890392"/>
            <a:chExt cx="2554142" cy="587454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D16CB460-B7BB-AAD2-3492-6A6BDC270756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BB0F6E3-F443-13EA-3F1A-18F97FEA9702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926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Searching and Sorting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49704" y="5915792"/>
            <a:ext cx="2554142" cy="587454"/>
            <a:chOff x="2423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9C6B4AB0-0C4B-F599-78A9-40AA22021DE7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B5E5510-FD4C-B4C2-BE57-738DCFAEE66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926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Searching and Sorting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752A79B-598A-CD92-C335-D7A49A8E8FD9}"/>
              </a:ext>
            </a:extLst>
          </p:cNvPr>
          <p:cNvGrpSpPr/>
          <p:nvPr userDrawn="1"/>
        </p:nvGrpSpPr>
        <p:grpSpPr>
          <a:xfrm>
            <a:off x="9844601" y="6157543"/>
            <a:ext cx="2554142" cy="650953"/>
            <a:chOff x="9437224" y="6087939"/>
            <a:chExt cx="2554142" cy="65095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012CB3F-8092-38C8-5C8B-925001DF45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8046" y="6151439"/>
              <a:ext cx="1932495" cy="58745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C6A71B0-0C01-FDBE-210C-342522AD24A0}"/>
                </a:ext>
              </a:extLst>
            </p:cNvPr>
            <p:cNvSpPr/>
            <p:nvPr userDrawn="1"/>
          </p:nvSpPr>
          <p:spPr>
            <a:xfrm>
              <a:off x="9437224" y="6087939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52158" y="102445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6A17A-7479-674E-E88F-817A8DC66928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B1D4F1-B9D3-AEF8-A7E4-3A493D24975D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926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Searching and Sorting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26758" y="6003345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7FD6D5-B7C8-BD30-8E9D-60DBA52CF9D6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82E8D8-D6FF-5063-4EE6-996968F9BD40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926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Searching and Sorting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249812" y="5990021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267849-5C66-8D7B-DD20-E6471E523F88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ED1F46-679E-0E61-61AF-EF31916AAB06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926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Searching and Sorting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 kern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25475" lvl="1" indent="-263525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896938" lvl="2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168400" lvl="3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439863" lvl="4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</a:pPr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</a:t>
            </a:r>
            <a:r>
              <a:rPr lang="da-DK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– 2: </a:t>
            </a:r>
            <a:r>
              <a:rPr lang="en-US" sz="1800" dirty="0"/>
              <a:t>Linear Data Structure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</a:t>
            </a:r>
            <a:r>
              <a:rPr lang="en-US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Institute of Engineering &amp; Technology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ktangel 11"/>
          <p:cNvSpPr/>
          <p:nvPr userDrawn="1"/>
        </p:nvSpPr>
        <p:spPr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571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4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89" y="1122364"/>
            <a:ext cx="7280145" cy="2563094"/>
          </a:xfrm>
        </p:spPr>
        <p:txBody>
          <a:bodyPr/>
          <a:lstStyle/>
          <a:p>
            <a:r>
              <a:rPr lang="en-US" sz="44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Unit-5</a:t>
            </a:r>
            <a:r>
              <a:rPr lang="en-US" sz="6000" dirty="0"/>
              <a:t> </a:t>
            </a:r>
            <a:br>
              <a:rPr lang="en-US" sz="6000" dirty="0"/>
            </a:br>
            <a:r>
              <a:rPr lang="en-US" sz="6000" dirty="0"/>
              <a:t>Searching &amp; </a:t>
            </a:r>
            <a:br>
              <a:rPr lang="en-US" sz="6000" dirty="0"/>
            </a:br>
            <a:r>
              <a:rPr lang="en-US" sz="6000" dirty="0"/>
              <a:t>Sorting</a:t>
            </a:r>
            <a:endParaRPr lang="en-US" sz="60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shruti.maniar@darshan.ac.in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97277 47317 (CE Department)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Shruti Maniar</a:t>
            </a:r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D6337D8C-443B-4C47-A28D-6B3C5497025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94" y="5211251"/>
            <a:ext cx="1353671" cy="1353599"/>
          </a:xfrm>
        </p:spPr>
      </p:pic>
    </p:spTree>
    <p:extLst>
      <p:ext uri="{BB962C8B-B14F-4D97-AF65-F5344CB8AC3E}">
        <p14:creationId xmlns:p14="http://schemas.microsoft.com/office/powerpoint/2010/main" val="2844291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50638"/>
            <a:ext cx="96886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Topics to be covered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Searching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Linear Search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Binary Search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Sorting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Bubble Sort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Selection Sort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Insertion Sort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Merge Sort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Quick Sort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Search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281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Linear/Sequential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computer science, </a:t>
            </a:r>
            <a:r>
              <a:rPr lang="en-IN" b="1" dirty="0">
                <a:solidFill>
                  <a:srgbClr val="C00000"/>
                </a:solidFill>
              </a:rPr>
              <a:t>linear search </a:t>
            </a:r>
            <a:r>
              <a:rPr lang="en-IN" dirty="0"/>
              <a:t>or </a:t>
            </a:r>
            <a:r>
              <a:rPr lang="en-IN" b="1" dirty="0">
                <a:solidFill>
                  <a:srgbClr val="C00000"/>
                </a:solidFill>
              </a:rPr>
              <a:t>sequential search </a:t>
            </a:r>
            <a:r>
              <a:rPr lang="en-IN" dirty="0"/>
              <a:t>is a method for finding a particular value in a list that consists of </a:t>
            </a:r>
            <a:r>
              <a:rPr lang="en-IN" b="1" dirty="0">
                <a:solidFill>
                  <a:srgbClr val="C00000"/>
                </a:solidFill>
              </a:rPr>
              <a:t>checking every </a:t>
            </a:r>
            <a:r>
              <a:rPr lang="en-IN" dirty="0"/>
              <a:t>one of its </a:t>
            </a:r>
            <a:r>
              <a:rPr lang="en-IN" b="1" dirty="0">
                <a:solidFill>
                  <a:srgbClr val="C00000"/>
                </a:solidFill>
              </a:rPr>
              <a:t>elements</a:t>
            </a:r>
            <a:r>
              <a:rPr lang="en-IN" dirty="0"/>
              <a:t>, </a:t>
            </a:r>
            <a:r>
              <a:rPr lang="en-IN" b="1" dirty="0">
                <a:solidFill>
                  <a:srgbClr val="C00000"/>
                </a:solidFill>
              </a:rPr>
              <a:t>one at a time </a:t>
            </a:r>
            <a:r>
              <a:rPr lang="en-IN" dirty="0"/>
              <a:t>and in sequence, </a:t>
            </a:r>
            <a:r>
              <a:rPr lang="en-IN" b="1" dirty="0">
                <a:solidFill>
                  <a:srgbClr val="C00000"/>
                </a:solidFill>
              </a:rPr>
              <a:t>until the desired one is found</a:t>
            </a:r>
            <a:r>
              <a:rPr lang="en-IN" dirty="0"/>
              <a:t>. </a:t>
            </a:r>
          </a:p>
          <a:p>
            <a:r>
              <a:rPr lang="en-IN" dirty="0"/>
              <a:t>Linear search is the simplest search algorithm.</a:t>
            </a:r>
          </a:p>
          <a:p>
            <a:r>
              <a:rPr lang="en-IN" dirty="0"/>
              <a:t>It is a special case of brute-force search. </a:t>
            </a:r>
          </a:p>
          <a:p>
            <a:r>
              <a:rPr lang="en-IN" dirty="0"/>
              <a:t>Its </a:t>
            </a:r>
            <a:r>
              <a:rPr lang="en-IN" b="1" dirty="0">
                <a:solidFill>
                  <a:srgbClr val="C00000"/>
                </a:solidFill>
              </a:rPr>
              <a:t>worst case cost </a:t>
            </a:r>
            <a:r>
              <a:rPr lang="en-IN" dirty="0"/>
              <a:t>is proportional to the </a:t>
            </a:r>
            <a:r>
              <a:rPr lang="en-IN" b="1" dirty="0">
                <a:solidFill>
                  <a:srgbClr val="C00000"/>
                </a:solidFill>
              </a:rPr>
              <a:t>number of elements in the list</a:t>
            </a:r>
            <a:r>
              <a:rPr lang="en-IN" dirty="0"/>
              <a:t>.</a:t>
            </a:r>
          </a:p>
          <a:p>
            <a:r>
              <a:rPr lang="en-IN" dirty="0"/>
              <a:t>Hence the </a:t>
            </a:r>
            <a:r>
              <a:rPr lang="en-IN" b="1" dirty="0">
                <a:solidFill>
                  <a:srgbClr val="C00000"/>
                </a:solidFill>
              </a:rPr>
              <a:t>worst case </a:t>
            </a:r>
            <a:r>
              <a:rPr lang="en-IN" dirty="0"/>
              <a:t>time complexity of Linear Search is </a:t>
            </a:r>
            <a:r>
              <a:rPr lang="en-IN" b="1" dirty="0">
                <a:solidFill>
                  <a:srgbClr val="C00000"/>
                </a:solidFill>
              </a:rPr>
              <a:t>O(n)</a:t>
            </a:r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80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Search – Algorithm &amp;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36" y="914400"/>
            <a:ext cx="4390251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Input: Array A, integer key</a:t>
            </a:r>
          </a:p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Output: first index of key in A </a:t>
            </a:r>
          </a:p>
          <a:p>
            <a:r>
              <a:rPr lang="en-IN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or -1 if not found </a:t>
            </a:r>
            <a:r>
              <a:rPr lang="en-IN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	</a:t>
            </a:r>
          </a:p>
          <a:p>
            <a:endParaRPr lang="en-IN" b="1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IN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Linear_Search</a:t>
            </a:r>
            <a:endParaRPr lang="en-IN" b="1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for i = 0 to last index of A: 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	 if A[i] equals key:</a:t>
            </a: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		 return i</a:t>
            </a:r>
          </a:p>
          <a:p>
            <a:endParaRPr lang="en-IN" dirty="0">
              <a:latin typeface="Consolas" pitchFamily="49" charset="0"/>
              <a:cs typeface="Consolas" pitchFamily="49" charset="0"/>
            </a:endParaRPr>
          </a:p>
          <a:p>
            <a:r>
              <a:rPr lang="en-IN" dirty="0">
                <a:latin typeface="Consolas" pitchFamily="49" charset="0"/>
                <a:cs typeface="Consolas" pitchFamily="49" charset="0"/>
              </a:rPr>
              <a:t>return -1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65064" y="914400"/>
            <a:ext cx="35700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/>
              <a:t>Search for </a:t>
            </a:r>
            <a:r>
              <a:rPr lang="en-IN" sz="2400" b="1" dirty="0">
                <a:solidFill>
                  <a:srgbClr val="C00000"/>
                </a:solidFill>
              </a:rPr>
              <a:t>1 </a:t>
            </a:r>
            <a:r>
              <a:rPr lang="en-IN" sz="2400" b="1" dirty="0"/>
              <a:t>in given array</a:t>
            </a:r>
            <a:endParaRPr lang="en-US" sz="2400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936329"/>
              </p:ext>
            </p:extLst>
          </p:nvPr>
        </p:nvGraphicFramePr>
        <p:xfrm>
          <a:off x="8749380" y="959811"/>
          <a:ext cx="317368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4455464" y="1523999"/>
            <a:ext cx="770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455464" y="1676400"/>
            <a:ext cx="75662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Comparing value of </a:t>
            </a:r>
            <a:r>
              <a:rPr lang="en-IN" b="1" dirty="0" err="1"/>
              <a:t>i</a:t>
            </a:r>
            <a:r>
              <a:rPr lang="en-IN" b="1" baseline="30000" dirty="0" err="1"/>
              <a:t>th</a:t>
            </a:r>
            <a:r>
              <a:rPr lang="en-IN" b="1" dirty="0"/>
              <a:t> index with element to be search one by one until we get searched element or end of the array</a:t>
            </a:r>
            <a:endParaRPr lang="en-US" b="1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455464" y="2362199"/>
            <a:ext cx="770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55464" y="2362199"/>
            <a:ext cx="118532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1: i=0</a:t>
            </a:r>
            <a:endParaRPr lang="en-US" b="1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113153"/>
              </p:ext>
            </p:extLst>
          </p:nvPr>
        </p:nvGraphicFramePr>
        <p:xfrm>
          <a:off x="5167980" y="2895599"/>
          <a:ext cx="317368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5396579" y="3352800"/>
            <a:ext cx="260008" cy="614065"/>
            <a:chOff x="457200" y="3505200"/>
            <a:chExt cx="260008" cy="614065"/>
          </a:xfrm>
        </p:grpSpPr>
        <p:sp>
          <p:nvSpPr>
            <p:cNvPr id="13" name="TextBox 12"/>
            <p:cNvSpPr txBox="1"/>
            <p:nvPr/>
          </p:nvSpPr>
          <p:spPr>
            <a:xfrm>
              <a:off x="457200" y="3657600"/>
              <a:ext cx="2600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C00000"/>
                  </a:solidFill>
                </a:rPr>
                <a:t>i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4455464" y="4271664"/>
            <a:ext cx="4038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72402" y="4287004"/>
            <a:ext cx="118532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1: i=1</a:t>
            </a:r>
            <a:endParaRPr lang="en-US" b="1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051268"/>
              </p:ext>
            </p:extLst>
          </p:nvPr>
        </p:nvGraphicFramePr>
        <p:xfrm>
          <a:off x="5127765" y="4796134"/>
          <a:ext cx="317368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5356364" y="5253335"/>
            <a:ext cx="260008" cy="614065"/>
            <a:chOff x="457200" y="3505200"/>
            <a:chExt cx="260008" cy="614065"/>
          </a:xfrm>
        </p:grpSpPr>
        <p:sp>
          <p:nvSpPr>
            <p:cNvPr id="19" name="TextBox 18"/>
            <p:cNvSpPr txBox="1"/>
            <p:nvPr/>
          </p:nvSpPr>
          <p:spPr>
            <a:xfrm>
              <a:off x="457200" y="3657600"/>
              <a:ext cx="2600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C00000"/>
                  </a:solidFill>
                </a:rPr>
                <a:t>i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/>
          <p:cNvCxnSpPr/>
          <p:nvPr/>
        </p:nvCxnSpPr>
        <p:spPr>
          <a:xfrm>
            <a:off x="8494064" y="2362199"/>
            <a:ext cx="0" cy="3886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05639" y="2373774"/>
            <a:ext cx="118532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1: i=2</a:t>
            </a:r>
            <a:endParaRPr lang="en-US" b="1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253651"/>
              </p:ext>
            </p:extLst>
          </p:nvPr>
        </p:nvGraphicFramePr>
        <p:xfrm>
          <a:off x="8825580" y="2895599"/>
          <a:ext cx="317368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4" name="Group 23"/>
          <p:cNvGrpSpPr/>
          <p:nvPr/>
        </p:nvGrpSpPr>
        <p:grpSpPr>
          <a:xfrm>
            <a:off x="9644663" y="3352800"/>
            <a:ext cx="260008" cy="614065"/>
            <a:chOff x="457200" y="3505200"/>
            <a:chExt cx="260008" cy="614065"/>
          </a:xfrm>
        </p:grpSpPr>
        <p:sp>
          <p:nvSpPr>
            <p:cNvPr id="25" name="TextBox 24"/>
            <p:cNvSpPr txBox="1"/>
            <p:nvPr/>
          </p:nvSpPr>
          <p:spPr>
            <a:xfrm>
              <a:off x="457200" y="3657600"/>
              <a:ext cx="2600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C00000"/>
                  </a:solidFill>
                </a:rPr>
                <a:t>i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27" name="Straight Connector 26"/>
          <p:cNvCxnSpPr/>
          <p:nvPr/>
        </p:nvCxnSpPr>
        <p:spPr>
          <a:xfrm>
            <a:off x="8494064" y="4264554"/>
            <a:ext cx="3665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94064" y="4267199"/>
            <a:ext cx="118532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1: i=3</a:t>
            </a:r>
            <a:endParaRPr lang="en-US" b="1" dirty="0"/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505076"/>
              </p:ext>
            </p:extLst>
          </p:nvPr>
        </p:nvGraphicFramePr>
        <p:xfrm>
          <a:off x="8814005" y="4789024"/>
          <a:ext cx="317368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>
            <a:off x="10269814" y="5263587"/>
            <a:ext cx="260008" cy="614065"/>
            <a:chOff x="457200" y="3505200"/>
            <a:chExt cx="260008" cy="614065"/>
          </a:xfrm>
        </p:grpSpPr>
        <p:sp>
          <p:nvSpPr>
            <p:cNvPr id="31" name="TextBox 30"/>
            <p:cNvSpPr txBox="1"/>
            <p:nvPr/>
          </p:nvSpPr>
          <p:spPr>
            <a:xfrm>
              <a:off x="457200" y="3657600"/>
              <a:ext cx="2600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C00000"/>
                  </a:solidFill>
                </a:rPr>
                <a:t>i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3" name="Rectangle 32"/>
          <p:cNvSpPr/>
          <p:nvPr/>
        </p:nvSpPr>
        <p:spPr>
          <a:xfrm>
            <a:off x="10867839" y="4789025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</a:rPr>
              <a:t>1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951265" y="5879067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Element found at </a:t>
            </a:r>
            <a:r>
              <a:rPr lang="en-IN" b="1" dirty="0" err="1"/>
              <a:t>i</a:t>
            </a:r>
            <a:r>
              <a:rPr lang="en-IN" b="1" baseline="30000" dirty="0" err="1"/>
              <a:t>th</a:t>
            </a:r>
            <a:r>
              <a:rPr lang="en-IN" b="1" dirty="0"/>
              <a:t> index, i=3</a:t>
            </a:r>
            <a:endParaRPr lang="en-US" b="1" dirty="0"/>
          </a:p>
        </p:txBody>
      </p:sp>
      <p:cxnSp>
        <p:nvCxnSpPr>
          <p:cNvPr id="40" name="Straight Connector 39"/>
          <p:cNvCxnSpPr/>
          <p:nvPr/>
        </p:nvCxnSpPr>
        <p:spPr>
          <a:xfrm>
            <a:off x="4445394" y="711201"/>
            <a:ext cx="0" cy="58443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573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85185E-6 L 0.05195 1.85185E-6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4.81481E-6 L 0.0513 -4.81481E-6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1.48148E-6 L 0.05508 1.48148E-6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8" grpId="0"/>
      <p:bldP spid="10" grpId="0" animBg="1"/>
      <p:bldP spid="16" grpId="0" animBg="1"/>
      <p:bldP spid="22" grpId="0" animBg="1"/>
      <p:bldP spid="28" grpId="0" animBg="1"/>
      <p:bldP spid="33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0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we have an </a:t>
            </a:r>
            <a:r>
              <a:rPr lang="en-IN" b="1" dirty="0">
                <a:solidFill>
                  <a:srgbClr val="C00000"/>
                </a:solidFill>
              </a:rPr>
              <a:t>array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that is </a:t>
            </a:r>
            <a:r>
              <a:rPr lang="en-IN" b="1" dirty="0">
                <a:solidFill>
                  <a:srgbClr val="C00000"/>
                </a:solidFill>
              </a:rPr>
              <a:t>sorted</a:t>
            </a:r>
            <a:r>
              <a:rPr lang="en-IN" dirty="0"/>
              <a:t>, we can use a much more </a:t>
            </a:r>
            <a:r>
              <a:rPr lang="en-IN" b="1" dirty="0">
                <a:solidFill>
                  <a:srgbClr val="C00000"/>
                </a:solidFill>
              </a:rPr>
              <a:t>efficient algorithm </a:t>
            </a:r>
            <a:r>
              <a:rPr lang="en-IN" dirty="0"/>
              <a:t>called a </a:t>
            </a:r>
            <a:r>
              <a:rPr lang="en-IN" b="1" dirty="0">
                <a:solidFill>
                  <a:srgbClr val="C00000"/>
                </a:solidFill>
              </a:rPr>
              <a:t>Binary Search</a:t>
            </a:r>
            <a:r>
              <a:rPr lang="en-IN" dirty="0"/>
              <a:t>.</a:t>
            </a:r>
          </a:p>
          <a:p>
            <a:r>
              <a:rPr lang="en-IN" dirty="0"/>
              <a:t>In binary search </a:t>
            </a:r>
            <a:r>
              <a:rPr lang="en-IN" b="1" dirty="0">
                <a:solidFill>
                  <a:srgbClr val="C00000"/>
                </a:solidFill>
              </a:rPr>
              <a:t>each time </a:t>
            </a:r>
            <a:r>
              <a:rPr lang="en-IN" dirty="0"/>
              <a:t>we </a:t>
            </a:r>
            <a:r>
              <a:rPr lang="en-IN" b="1" dirty="0">
                <a:solidFill>
                  <a:srgbClr val="C00000"/>
                </a:solidFill>
              </a:rPr>
              <a:t>divide array </a:t>
            </a:r>
            <a:r>
              <a:rPr lang="en-IN" dirty="0"/>
              <a:t>into </a:t>
            </a:r>
            <a:r>
              <a:rPr lang="en-IN" b="1" dirty="0">
                <a:solidFill>
                  <a:srgbClr val="C00000"/>
                </a:solidFill>
              </a:rPr>
              <a:t>two equal halves </a:t>
            </a:r>
            <a:r>
              <a:rPr lang="en-IN" dirty="0"/>
              <a:t>and </a:t>
            </a:r>
            <a:r>
              <a:rPr lang="en-IN" b="1" dirty="0">
                <a:solidFill>
                  <a:srgbClr val="C00000"/>
                </a:solidFill>
              </a:rPr>
              <a:t>compare middle element </a:t>
            </a:r>
            <a:r>
              <a:rPr lang="en-IN" dirty="0"/>
              <a:t>with </a:t>
            </a:r>
            <a:r>
              <a:rPr lang="en-IN" b="1" dirty="0">
                <a:solidFill>
                  <a:srgbClr val="C00000"/>
                </a:solidFill>
              </a:rPr>
              <a:t>search element</a:t>
            </a:r>
            <a:r>
              <a:rPr lang="en-IN" dirty="0"/>
              <a:t>.</a:t>
            </a:r>
          </a:p>
          <a:p>
            <a:r>
              <a:rPr lang="en-IN" dirty="0"/>
              <a:t>Thus the </a:t>
            </a:r>
            <a:r>
              <a:rPr lang="en-IN" b="1" dirty="0">
                <a:solidFill>
                  <a:srgbClr val="C00000"/>
                </a:solidFill>
              </a:rPr>
              <a:t>worst case </a:t>
            </a:r>
            <a:r>
              <a:rPr lang="en-IN" dirty="0"/>
              <a:t>time complexity of Binary Search </a:t>
            </a:r>
            <a:r>
              <a:rPr lang="en-IN" b="1" dirty="0">
                <a:solidFill>
                  <a:srgbClr val="C00000"/>
                </a:solidFill>
              </a:rPr>
              <a:t>is O(log</a:t>
            </a:r>
            <a:r>
              <a:rPr lang="en-IN" b="1" baseline="-25000" dirty="0">
                <a:solidFill>
                  <a:srgbClr val="C00000"/>
                </a:solidFill>
              </a:rPr>
              <a:t>2</a:t>
            </a:r>
            <a:r>
              <a:rPr lang="en-IN" b="1" dirty="0">
                <a:solidFill>
                  <a:srgbClr val="C00000"/>
                </a:solidFill>
              </a:rPr>
              <a:t>n)</a:t>
            </a:r>
            <a:r>
              <a:rPr lang="en-IN" dirty="0"/>
              <a:t>.</a:t>
            </a:r>
          </a:p>
          <a:p>
            <a:r>
              <a:rPr lang="en-IN" dirty="0"/>
              <a:t>For the best kind of input, the search element could be found in one comparison only. So that the </a:t>
            </a:r>
            <a:r>
              <a:rPr lang="en-IN" b="1" dirty="0">
                <a:solidFill>
                  <a:srgbClr val="C00000"/>
                </a:solidFill>
              </a:rPr>
              <a:t>best case </a:t>
            </a:r>
            <a:r>
              <a:rPr lang="en-IN" dirty="0"/>
              <a:t>time complexity is </a:t>
            </a:r>
            <a:r>
              <a:rPr lang="en-IN" b="1" dirty="0">
                <a:solidFill>
                  <a:srgbClr val="C00000"/>
                </a:solidFill>
              </a:rPr>
              <a:t>O(1)</a:t>
            </a:r>
            <a:r>
              <a:rPr lang="en-IN" dirty="0"/>
              <a:t>.</a:t>
            </a:r>
          </a:p>
          <a:p>
            <a:r>
              <a:rPr lang="en-IN" dirty="0"/>
              <a:t>Searching Logic</a:t>
            </a:r>
          </a:p>
          <a:p>
            <a:pPr lvl="1">
              <a:buClrTx/>
            </a:pPr>
            <a:r>
              <a:rPr lang="en-IN" dirty="0"/>
              <a:t>If </a:t>
            </a:r>
            <a:r>
              <a:rPr lang="en-IN" b="1" dirty="0">
                <a:solidFill>
                  <a:srgbClr val="C00000"/>
                </a:solidFill>
              </a:rPr>
              <a:t>middle element </a:t>
            </a:r>
            <a:r>
              <a:rPr lang="en-IN" dirty="0"/>
              <a:t>is </a:t>
            </a:r>
            <a:r>
              <a:rPr lang="en-IN" b="1" dirty="0">
                <a:solidFill>
                  <a:srgbClr val="C00000"/>
                </a:solidFill>
              </a:rPr>
              <a:t>equal to search element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then we got that element and </a:t>
            </a:r>
            <a:r>
              <a:rPr lang="en-IN" b="1" dirty="0">
                <a:solidFill>
                  <a:srgbClr val="C00000"/>
                </a:solidFill>
              </a:rPr>
              <a:t>return that index</a:t>
            </a:r>
          </a:p>
          <a:p>
            <a:pPr lvl="1">
              <a:buClrTx/>
            </a:pPr>
            <a:r>
              <a:rPr lang="en-IN" dirty="0"/>
              <a:t>if </a:t>
            </a:r>
            <a:r>
              <a:rPr lang="en-IN" b="1" dirty="0">
                <a:solidFill>
                  <a:srgbClr val="C00000"/>
                </a:solidFill>
              </a:rPr>
              <a:t>middle element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is </a:t>
            </a:r>
            <a:r>
              <a:rPr lang="en-IN" b="1" dirty="0">
                <a:solidFill>
                  <a:srgbClr val="C00000"/>
                </a:solidFill>
              </a:rPr>
              <a:t>less than search element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we </a:t>
            </a:r>
            <a:r>
              <a:rPr lang="en-IN" b="1" dirty="0">
                <a:solidFill>
                  <a:srgbClr val="C00000"/>
                </a:solidFill>
              </a:rPr>
              <a:t>look right part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of array</a:t>
            </a:r>
          </a:p>
          <a:p>
            <a:pPr lvl="1">
              <a:buClrTx/>
            </a:pPr>
            <a:r>
              <a:rPr lang="en-IN" dirty="0"/>
              <a:t>if </a:t>
            </a:r>
            <a:r>
              <a:rPr lang="en-IN" b="1" dirty="0">
                <a:solidFill>
                  <a:srgbClr val="C00000"/>
                </a:solidFill>
              </a:rPr>
              <a:t>middle element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is </a:t>
            </a:r>
            <a:r>
              <a:rPr lang="en-IN" b="1" dirty="0">
                <a:solidFill>
                  <a:srgbClr val="C00000"/>
                </a:solidFill>
              </a:rPr>
              <a:t>greater than search element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we look </a:t>
            </a:r>
            <a:r>
              <a:rPr lang="en-IN" b="1" dirty="0">
                <a:solidFill>
                  <a:srgbClr val="C00000"/>
                </a:solidFill>
              </a:rPr>
              <a:t>left part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of array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191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– Algorithm (Iterative Approach)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806826"/>
            <a:ext cx="9189720" cy="52629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Input: Sorted Array A, integer key</a:t>
            </a: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Output: first index of key in A, </a:t>
            </a: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or -1 if not found </a:t>
            </a:r>
          </a:p>
          <a:p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sz="2400" b="1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Binary_Search</a:t>
            </a:r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(A, left, right)</a:t>
            </a:r>
          </a:p>
          <a:p>
            <a:r>
              <a:rPr lang="en-IN" sz="2400" b="1" dirty="0">
                <a:latin typeface="Consolas" pitchFamily="49" charset="0"/>
                <a:cs typeface="Consolas" pitchFamily="49" charset="0"/>
              </a:rPr>
              <a:t>left = 0, right = n-1</a:t>
            </a:r>
          </a:p>
          <a:p>
            <a:r>
              <a:rPr lang="en-IN" sz="2400" b="1" dirty="0">
                <a:latin typeface="Consolas" pitchFamily="49" charset="0"/>
                <a:cs typeface="Consolas" pitchFamily="49" charset="0"/>
              </a:rPr>
              <a:t>while left &lt;= right 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middle = index halfway between left, right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if A[middle] matches key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 return middle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else if key less than A[middle]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 right = middle -1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else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 left = middle + 1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return -1</a:t>
            </a:r>
          </a:p>
        </p:txBody>
      </p:sp>
    </p:spTree>
    <p:extLst>
      <p:ext uri="{BB962C8B-B14F-4D97-AF65-F5344CB8AC3E}">
        <p14:creationId xmlns:p14="http://schemas.microsoft.com/office/powerpoint/2010/main" val="303215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-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1752600" y="811365"/>
            <a:ext cx="8763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Search for </a:t>
            </a:r>
            <a:r>
              <a:rPr lang="en-IN" sz="2400" b="1" dirty="0">
                <a:solidFill>
                  <a:srgbClr val="C00000"/>
                </a:solidFill>
              </a:rPr>
              <a:t>6 </a:t>
            </a:r>
            <a:r>
              <a:rPr lang="en-IN" sz="2400" b="1" dirty="0"/>
              <a:t>in given array</a:t>
            </a:r>
            <a:endParaRPr lang="en-US" sz="2400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22890"/>
              </p:ext>
            </p:extLst>
          </p:nvPr>
        </p:nvGraphicFramePr>
        <p:xfrm>
          <a:off x="2666999" y="1407460"/>
          <a:ext cx="7848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-1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114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1752600" y="3160060"/>
            <a:ext cx="8763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52800" y="3155596"/>
            <a:ext cx="6002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Key=6, No of Elements = 10, so left = 0, right=9</a:t>
            </a:r>
            <a:endParaRPr lang="en-US" sz="24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3617260"/>
            <a:ext cx="8763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663604"/>
              </p:ext>
            </p:extLst>
          </p:nvPr>
        </p:nvGraphicFramePr>
        <p:xfrm>
          <a:off x="2667000" y="1910960"/>
          <a:ext cx="7848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752600" y="1917710"/>
            <a:ext cx="710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Index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46551" y="3684530"/>
            <a:ext cx="76747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middle index =</a:t>
            </a:r>
            <a:r>
              <a:rPr lang="en-IN" dirty="0"/>
              <a:t> (left + right) /2 = (0+9)/2 </a:t>
            </a:r>
            <a:r>
              <a:rPr lang="en-IN" b="1" dirty="0">
                <a:solidFill>
                  <a:srgbClr val="C00000"/>
                </a:solidFill>
              </a:rPr>
              <a:t>= 4</a:t>
            </a:r>
          </a:p>
          <a:p>
            <a:pPr algn="ctr"/>
            <a:r>
              <a:rPr lang="en-IN" b="1" dirty="0">
                <a:solidFill>
                  <a:srgbClr val="C00000"/>
                </a:solidFill>
              </a:rPr>
              <a:t>middle element value </a:t>
            </a:r>
            <a:r>
              <a:rPr lang="en-IN" dirty="0"/>
              <a:t>= a[4] = </a:t>
            </a:r>
            <a:r>
              <a:rPr lang="en-IN" b="1" dirty="0">
                <a:solidFill>
                  <a:srgbClr val="C00000"/>
                </a:solidFill>
              </a:rPr>
              <a:t>19</a:t>
            </a:r>
          </a:p>
          <a:p>
            <a:pPr algn="ctr"/>
            <a:r>
              <a:rPr lang="en-IN" b="1" dirty="0">
                <a:solidFill>
                  <a:srgbClr val="C00000"/>
                </a:solidFill>
              </a:rPr>
              <a:t>Key=6</a:t>
            </a:r>
            <a:r>
              <a:rPr lang="en-IN" dirty="0"/>
              <a:t> is </a:t>
            </a:r>
            <a:r>
              <a:rPr lang="en-IN" b="1" dirty="0">
                <a:solidFill>
                  <a:srgbClr val="C00000"/>
                </a:solidFill>
              </a:rPr>
              <a:t>less than </a:t>
            </a:r>
            <a:r>
              <a:rPr lang="en-IN" dirty="0"/>
              <a:t>middle element = </a:t>
            </a:r>
            <a:r>
              <a:rPr lang="en-IN" b="1" dirty="0">
                <a:solidFill>
                  <a:srgbClr val="C00000"/>
                </a:solidFill>
              </a:rPr>
              <a:t>19</a:t>
            </a:r>
            <a:r>
              <a:rPr lang="en-IN" dirty="0"/>
              <a:t>, so </a:t>
            </a:r>
            <a:r>
              <a:rPr lang="en-IN" b="1" dirty="0"/>
              <a:t>right</a:t>
            </a:r>
            <a:r>
              <a:rPr lang="en-IN" dirty="0"/>
              <a:t> = middle – 1 = 4 – 1 = </a:t>
            </a:r>
            <a:r>
              <a:rPr lang="en-IN" b="1" dirty="0">
                <a:solidFill>
                  <a:srgbClr val="C00000"/>
                </a:solidFill>
              </a:rPr>
              <a:t>3, left = 0 </a:t>
            </a:r>
            <a:endParaRPr 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223747"/>
              </p:ext>
            </p:extLst>
          </p:nvPr>
        </p:nvGraphicFramePr>
        <p:xfrm>
          <a:off x="2462665" y="4694640"/>
          <a:ext cx="7848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-1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114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672964"/>
              </p:ext>
            </p:extLst>
          </p:nvPr>
        </p:nvGraphicFramePr>
        <p:xfrm>
          <a:off x="2462666" y="5198140"/>
          <a:ext cx="7848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548266" y="5204890"/>
            <a:ext cx="710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Index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514501" y="5552038"/>
            <a:ext cx="618439" cy="614065"/>
            <a:chOff x="277985" y="3505200"/>
            <a:chExt cx="618439" cy="614065"/>
          </a:xfrm>
        </p:grpSpPr>
        <p:sp>
          <p:nvSpPr>
            <p:cNvPr id="18" name="TextBox 17"/>
            <p:cNvSpPr txBox="1"/>
            <p:nvPr/>
          </p:nvSpPr>
          <p:spPr>
            <a:xfrm>
              <a:off x="277985" y="3657600"/>
              <a:ext cx="6184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left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4793765" y="5605571"/>
            <a:ext cx="784510" cy="614065"/>
            <a:chOff x="194950" y="3505200"/>
            <a:chExt cx="784510" cy="614065"/>
          </a:xfrm>
        </p:grpSpPr>
        <p:sp>
          <p:nvSpPr>
            <p:cNvPr id="21" name="TextBox 20"/>
            <p:cNvSpPr txBox="1"/>
            <p:nvPr/>
          </p:nvSpPr>
          <p:spPr>
            <a:xfrm>
              <a:off x="194950" y="3657600"/>
              <a:ext cx="784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right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2727426" y="2416263"/>
            <a:ext cx="618439" cy="614065"/>
            <a:chOff x="277985" y="3505200"/>
            <a:chExt cx="618439" cy="614065"/>
          </a:xfrm>
        </p:grpSpPr>
        <p:sp>
          <p:nvSpPr>
            <p:cNvPr id="24" name="TextBox 23"/>
            <p:cNvSpPr txBox="1"/>
            <p:nvPr/>
          </p:nvSpPr>
          <p:spPr>
            <a:xfrm>
              <a:off x="277985" y="3657600"/>
              <a:ext cx="6184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left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9731090" y="2469796"/>
            <a:ext cx="784510" cy="614065"/>
            <a:chOff x="194950" y="3505200"/>
            <a:chExt cx="784510" cy="614065"/>
          </a:xfrm>
        </p:grpSpPr>
        <p:sp>
          <p:nvSpPr>
            <p:cNvPr id="27" name="TextBox 26"/>
            <p:cNvSpPr txBox="1"/>
            <p:nvPr/>
          </p:nvSpPr>
          <p:spPr>
            <a:xfrm>
              <a:off x="194950" y="3657600"/>
              <a:ext cx="784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right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1752601" y="3617260"/>
            <a:ext cx="84388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82032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2" grpId="0"/>
      <p:bldP spid="16" grpId="0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-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0208" y="923400"/>
            <a:ext cx="76674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middle index =</a:t>
            </a:r>
            <a:r>
              <a:rPr lang="en-IN" dirty="0"/>
              <a:t> (left + right) /2 = (0+3)/2 </a:t>
            </a:r>
            <a:r>
              <a:rPr lang="en-IN" b="1" dirty="0">
                <a:solidFill>
                  <a:srgbClr val="C00000"/>
                </a:solidFill>
              </a:rPr>
              <a:t>= 1</a:t>
            </a:r>
          </a:p>
          <a:p>
            <a:pPr algn="ctr"/>
            <a:r>
              <a:rPr lang="en-IN" b="1" dirty="0">
                <a:solidFill>
                  <a:srgbClr val="C00000"/>
                </a:solidFill>
              </a:rPr>
              <a:t>middle element value </a:t>
            </a:r>
            <a:r>
              <a:rPr lang="en-IN" dirty="0"/>
              <a:t>= a[1] = </a:t>
            </a:r>
            <a:r>
              <a:rPr lang="en-IN" b="1" dirty="0">
                <a:solidFill>
                  <a:srgbClr val="C00000"/>
                </a:solidFill>
              </a:rPr>
              <a:t>5</a:t>
            </a:r>
          </a:p>
          <a:p>
            <a:pPr algn="ctr"/>
            <a:r>
              <a:rPr lang="en-IN" b="1" dirty="0">
                <a:solidFill>
                  <a:srgbClr val="C00000"/>
                </a:solidFill>
              </a:rPr>
              <a:t>Key=6</a:t>
            </a:r>
            <a:r>
              <a:rPr lang="en-IN" dirty="0"/>
              <a:t> is </a:t>
            </a:r>
            <a:r>
              <a:rPr lang="en-IN" b="1" dirty="0">
                <a:solidFill>
                  <a:srgbClr val="C00000"/>
                </a:solidFill>
              </a:rPr>
              <a:t>greater than </a:t>
            </a:r>
            <a:r>
              <a:rPr lang="en-IN" dirty="0"/>
              <a:t>middle element = </a:t>
            </a:r>
            <a:r>
              <a:rPr lang="en-IN" b="1" dirty="0">
                <a:solidFill>
                  <a:srgbClr val="C00000"/>
                </a:solidFill>
              </a:rPr>
              <a:t>5</a:t>
            </a:r>
            <a:r>
              <a:rPr lang="en-IN" dirty="0"/>
              <a:t>, so </a:t>
            </a:r>
            <a:r>
              <a:rPr lang="en-IN" b="1" dirty="0"/>
              <a:t>left </a:t>
            </a:r>
            <a:r>
              <a:rPr lang="en-IN" dirty="0"/>
              <a:t>= middle + 1 =1 + 1 = </a:t>
            </a:r>
            <a:r>
              <a:rPr lang="en-IN" b="1" dirty="0">
                <a:solidFill>
                  <a:srgbClr val="C00000"/>
                </a:solidFill>
              </a:rPr>
              <a:t>2, right = 3 </a:t>
            </a:r>
            <a:endParaRPr 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965278"/>
              </p:ext>
            </p:extLst>
          </p:nvPr>
        </p:nvGraphicFramePr>
        <p:xfrm>
          <a:off x="2462665" y="1933510"/>
          <a:ext cx="7848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-1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114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718805"/>
              </p:ext>
            </p:extLst>
          </p:nvPr>
        </p:nvGraphicFramePr>
        <p:xfrm>
          <a:off x="2462666" y="2437010"/>
          <a:ext cx="7848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548266" y="2443760"/>
            <a:ext cx="710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Index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105962" y="2832866"/>
            <a:ext cx="618439" cy="614065"/>
            <a:chOff x="277985" y="3505200"/>
            <a:chExt cx="618439" cy="614065"/>
          </a:xfrm>
        </p:grpSpPr>
        <p:sp>
          <p:nvSpPr>
            <p:cNvPr id="10" name="TextBox 9"/>
            <p:cNvSpPr txBox="1"/>
            <p:nvPr/>
          </p:nvSpPr>
          <p:spPr>
            <a:xfrm>
              <a:off x="277985" y="3657600"/>
              <a:ext cx="6184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left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4793765" y="2844441"/>
            <a:ext cx="784510" cy="614065"/>
            <a:chOff x="194950" y="3505200"/>
            <a:chExt cx="784510" cy="614065"/>
          </a:xfrm>
        </p:grpSpPr>
        <p:sp>
          <p:nvSpPr>
            <p:cNvPr id="13" name="TextBox 12"/>
            <p:cNvSpPr txBox="1"/>
            <p:nvPr/>
          </p:nvSpPr>
          <p:spPr>
            <a:xfrm>
              <a:off x="194950" y="3657600"/>
              <a:ext cx="784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right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1752601" y="879280"/>
            <a:ext cx="84388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2:</a:t>
            </a:r>
            <a:endParaRPr lang="en-US" b="1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52600" y="3599330"/>
            <a:ext cx="8763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1493" y="3666600"/>
            <a:ext cx="55449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middle index =</a:t>
            </a:r>
            <a:r>
              <a:rPr lang="en-IN" dirty="0"/>
              <a:t> (left + right) /2 = (2+3)/2 </a:t>
            </a:r>
            <a:r>
              <a:rPr lang="en-IN" b="1" dirty="0">
                <a:solidFill>
                  <a:srgbClr val="C00000"/>
                </a:solidFill>
              </a:rPr>
              <a:t>= 2</a:t>
            </a:r>
          </a:p>
          <a:p>
            <a:pPr algn="ctr"/>
            <a:r>
              <a:rPr lang="en-IN" b="1" dirty="0">
                <a:solidFill>
                  <a:srgbClr val="C00000"/>
                </a:solidFill>
              </a:rPr>
              <a:t>middle element value </a:t>
            </a:r>
            <a:r>
              <a:rPr lang="en-IN" dirty="0"/>
              <a:t>= a[2] = </a:t>
            </a:r>
            <a:r>
              <a:rPr lang="en-IN" b="1" dirty="0">
                <a:solidFill>
                  <a:srgbClr val="C00000"/>
                </a:solidFill>
              </a:rPr>
              <a:t>6</a:t>
            </a:r>
          </a:p>
          <a:p>
            <a:pPr algn="ctr"/>
            <a:r>
              <a:rPr lang="en-IN" b="1" dirty="0">
                <a:solidFill>
                  <a:srgbClr val="C00000"/>
                </a:solidFill>
              </a:rPr>
              <a:t>Key=6</a:t>
            </a:r>
            <a:r>
              <a:rPr lang="en-IN" dirty="0"/>
              <a:t> is </a:t>
            </a:r>
            <a:r>
              <a:rPr lang="en-IN" b="1" dirty="0">
                <a:solidFill>
                  <a:srgbClr val="C00000"/>
                </a:solidFill>
              </a:rPr>
              <a:t>equals to </a:t>
            </a:r>
            <a:r>
              <a:rPr lang="en-IN" dirty="0"/>
              <a:t>middle element = </a:t>
            </a:r>
            <a:r>
              <a:rPr lang="en-IN" b="1" dirty="0">
                <a:solidFill>
                  <a:srgbClr val="C00000"/>
                </a:solidFill>
              </a:rPr>
              <a:t>6</a:t>
            </a:r>
            <a:r>
              <a:rPr lang="en-IN" dirty="0"/>
              <a:t>, so </a:t>
            </a:r>
            <a:r>
              <a:rPr lang="en-IN" b="1" dirty="0"/>
              <a:t>element found</a:t>
            </a:r>
            <a:endParaRPr 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907251"/>
              </p:ext>
            </p:extLst>
          </p:nvPr>
        </p:nvGraphicFramePr>
        <p:xfrm>
          <a:off x="2462665" y="4676710"/>
          <a:ext cx="7848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-1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19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25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46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78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102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114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563914"/>
              </p:ext>
            </p:extLst>
          </p:nvPr>
        </p:nvGraphicFramePr>
        <p:xfrm>
          <a:off x="2462666" y="5180210"/>
          <a:ext cx="7848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548266" y="5186960"/>
            <a:ext cx="710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Index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3419581" y="5534108"/>
            <a:ext cx="2008883" cy="614065"/>
            <a:chOff x="-417235" y="3505200"/>
            <a:chExt cx="2008883" cy="614065"/>
          </a:xfrm>
        </p:grpSpPr>
        <p:sp>
          <p:nvSpPr>
            <p:cNvPr id="22" name="TextBox 21"/>
            <p:cNvSpPr txBox="1"/>
            <p:nvPr/>
          </p:nvSpPr>
          <p:spPr>
            <a:xfrm>
              <a:off x="-417235" y="3657600"/>
              <a:ext cx="20088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Element Found</a:t>
              </a:r>
              <a:endPara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 flipV="1">
              <a:off x="587204" y="3505200"/>
              <a:ext cx="0" cy="228600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1752601" y="3599330"/>
            <a:ext cx="84388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3: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4256676" y="467770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6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59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 animBg="1"/>
      <p:bldP spid="20" grpId="0"/>
      <p:bldP spid="24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– Algorithm (Recursive Approach)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806826"/>
            <a:ext cx="9575358" cy="52629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Input: Sorted Array A, integer key</a:t>
            </a: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Output: first index of key in A, </a:t>
            </a: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# or -1 if not found </a:t>
            </a:r>
          </a:p>
          <a:p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sz="2400" b="1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Binary_Search</a:t>
            </a:r>
            <a:r>
              <a:rPr lang="en-IN" sz="24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(A, left, right, key)</a:t>
            </a:r>
          </a:p>
          <a:p>
            <a:r>
              <a:rPr lang="en-IN" sz="2400" b="1" dirty="0">
                <a:latin typeface="Consolas" pitchFamily="49" charset="0"/>
                <a:cs typeface="Consolas" pitchFamily="49" charset="0"/>
              </a:rPr>
              <a:t>left = 0, right = n-1</a:t>
            </a:r>
          </a:p>
          <a:p>
            <a:r>
              <a:rPr lang="en-IN" sz="2400" b="1" dirty="0">
                <a:latin typeface="Consolas" pitchFamily="49" charset="0"/>
                <a:cs typeface="Consolas" pitchFamily="49" charset="0"/>
              </a:rPr>
              <a:t>if left &lt;= right 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middle = index halfway between left, right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if A[middle] matches key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 return middle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else if key less than A[middle]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 return </a:t>
            </a:r>
            <a:r>
              <a:rPr lang="en-US" sz="2400" b="1" dirty="0" err="1">
                <a:latin typeface="Consolas" pitchFamily="49" charset="0"/>
                <a:cs typeface="Consolas" pitchFamily="49" charset="0"/>
              </a:rPr>
              <a:t>Binary_Search</a:t>
            </a:r>
            <a:r>
              <a:rPr lang="en-US" sz="2400" b="1" dirty="0">
                <a:latin typeface="Consolas" pitchFamily="49" charset="0"/>
                <a:cs typeface="Consolas" pitchFamily="49" charset="0"/>
              </a:rPr>
              <a:t> (A, left, </a:t>
            </a:r>
            <a:r>
              <a:rPr lang="en-IN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middle - 1</a:t>
            </a:r>
            <a:r>
              <a:rPr lang="en-US" sz="2400" b="1" dirty="0">
                <a:latin typeface="Consolas" pitchFamily="49" charset="0"/>
                <a:cs typeface="Consolas" pitchFamily="49" charset="0"/>
              </a:rPr>
              <a:t>, key)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else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 return </a:t>
            </a:r>
            <a:r>
              <a:rPr lang="en-US" sz="2400" b="1" dirty="0" err="1">
                <a:latin typeface="Consolas" pitchFamily="49" charset="0"/>
                <a:cs typeface="Consolas" pitchFamily="49" charset="0"/>
              </a:rPr>
              <a:t>Binary_Search</a:t>
            </a:r>
            <a:r>
              <a:rPr lang="en-US" sz="2400" b="1" dirty="0">
                <a:latin typeface="Consolas" pitchFamily="49" charset="0"/>
                <a:cs typeface="Consolas" pitchFamily="49" charset="0"/>
              </a:rPr>
              <a:t> (A, </a:t>
            </a:r>
            <a:r>
              <a:rPr lang="en-IN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middle + 1</a:t>
            </a:r>
            <a:r>
              <a:rPr lang="en-US" sz="2400" b="1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IN" sz="2400" b="1" dirty="0">
                <a:latin typeface="Consolas" pitchFamily="49" charset="0"/>
                <a:cs typeface="Consolas" pitchFamily="49" charset="0"/>
              </a:rPr>
              <a:t>right</a:t>
            </a:r>
            <a:r>
              <a:rPr lang="en-US" sz="2400" b="1" dirty="0">
                <a:latin typeface="Consolas" pitchFamily="49" charset="0"/>
                <a:cs typeface="Consolas" pitchFamily="49" charset="0"/>
              </a:rPr>
              <a:t>, key)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return -1</a:t>
            </a:r>
          </a:p>
        </p:txBody>
      </p:sp>
    </p:spTree>
    <p:extLst>
      <p:ext uri="{BB962C8B-B14F-4D97-AF65-F5344CB8AC3E}">
        <p14:creationId xmlns:p14="http://schemas.microsoft.com/office/powerpoint/2010/main" val="343659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Search vs. Binary Search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3640630"/>
              </p:ext>
            </p:extLst>
          </p:nvPr>
        </p:nvGraphicFramePr>
        <p:xfrm>
          <a:off x="346229" y="1054528"/>
          <a:ext cx="11714008" cy="132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5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3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501">
                <a:tc>
                  <a:txBody>
                    <a:bodyPr/>
                    <a:lstStyle/>
                    <a:p>
                      <a:r>
                        <a:rPr lang="en-US" sz="2100" b="1" dirty="0"/>
                        <a:t>Aspect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1" dirty="0"/>
                        <a:t>Linear Search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1" dirty="0"/>
                        <a:t>Binary Search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Prerequisites</a:t>
                      </a:r>
                      <a:endParaRPr lang="en-US" sz="1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work on both sorted and unsorted arrays.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requires the input array to be sorted only.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325E7D-0937-C40C-DB59-2D166FE35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246067"/>
              </p:ext>
            </p:extLst>
          </p:nvPr>
        </p:nvGraphicFramePr>
        <p:xfrm>
          <a:off x="346229" y="2380408"/>
          <a:ext cx="11714008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5451">
                  <a:extLst>
                    <a:ext uri="{9D8B030D-6E8A-4147-A177-3AD203B41FA5}">
                      <a16:colId xmlns:a16="http://schemas.microsoft.com/office/drawing/2014/main" val="926165346"/>
                    </a:ext>
                  </a:extLst>
                </a:gridCol>
                <a:gridCol w="4895094">
                  <a:extLst>
                    <a:ext uri="{9D8B030D-6E8A-4147-A177-3AD203B41FA5}">
                      <a16:colId xmlns:a16="http://schemas.microsoft.com/office/drawing/2014/main" val="2041637328"/>
                    </a:ext>
                  </a:extLst>
                </a:gridCol>
                <a:gridCol w="5153463">
                  <a:extLst>
                    <a:ext uri="{9D8B030D-6E8A-4147-A177-3AD203B41FA5}">
                      <a16:colId xmlns:a16="http://schemas.microsoft.com/office/drawing/2014/main" val="538944757"/>
                    </a:ext>
                  </a:extLst>
                </a:gridCol>
              </a:tblGrid>
              <a:tr h="346223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Efficiency</a:t>
                      </a:r>
                      <a:endParaRPr lang="en-US" sz="1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</a:rPr>
                        <a:t>Less efficient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comparatively.</a:t>
                      </a:r>
                      <a:endParaRPr lang="en-US" sz="1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</a:rPr>
                        <a:t>More efficient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than linear search, especially for large datasets.</a:t>
                      </a:r>
                      <a:endParaRPr lang="en-US" sz="1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9211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F3877F-7551-DCAF-191F-93B6FD059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029096"/>
              </p:ext>
            </p:extLst>
          </p:nvPr>
        </p:nvGraphicFramePr>
        <p:xfrm>
          <a:off x="346229" y="3025141"/>
          <a:ext cx="11714008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7256">
                  <a:extLst>
                    <a:ext uri="{9D8B030D-6E8A-4147-A177-3AD203B41FA5}">
                      <a16:colId xmlns:a16="http://schemas.microsoft.com/office/drawing/2014/main" val="2657036283"/>
                    </a:ext>
                  </a:extLst>
                </a:gridCol>
                <a:gridCol w="4893289">
                  <a:extLst>
                    <a:ext uri="{9D8B030D-6E8A-4147-A177-3AD203B41FA5}">
                      <a16:colId xmlns:a16="http://schemas.microsoft.com/office/drawing/2014/main" val="857961393"/>
                    </a:ext>
                  </a:extLst>
                </a:gridCol>
                <a:gridCol w="5153463">
                  <a:extLst>
                    <a:ext uri="{9D8B030D-6E8A-4147-A177-3AD203B41FA5}">
                      <a16:colId xmlns:a16="http://schemas.microsoft.com/office/drawing/2014/main" val="2969725467"/>
                    </a:ext>
                  </a:extLst>
                </a:gridCol>
              </a:tblGrid>
              <a:tr h="600329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Algorithm Complexity</a:t>
                      </a:r>
                      <a:endParaRPr lang="en-US" sz="1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b="1" kern="1200" dirty="0">
                          <a:solidFill>
                            <a:schemeClr val="dk1"/>
                          </a:solidFill>
                        </a:rPr>
                        <a:t>O(n)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106680" marB="1066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</a:rPr>
                        <a:t>O(log</a:t>
                      </a:r>
                      <a:r>
                        <a:rPr lang="en-US" sz="1800" b="1" kern="1200" baseline="-25000" dirty="0">
                          <a:solidFill>
                            <a:schemeClr val="dk1"/>
                          </a:solidFill>
                          <a:effectLst/>
                        </a:rPr>
                        <a:t>2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</a:rPr>
                        <a:t>n)</a:t>
                      </a:r>
                      <a:endParaRPr lang="en-US" sz="1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529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340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523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Selection sort is a simple sorting algorithm. 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list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divided into two parts</a:t>
            </a:r>
            <a:r>
              <a:rPr lang="en-US" dirty="0"/>
              <a:t>, </a:t>
            </a:r>
          </a:p>
          <a:p>
            <a:pPr lvl="1">
              <a:buClrTx/>
            </a:pP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sorted part </a:t>
            </a:r>
            <a:r>
              <a:rPr lang="en-US" dirty="0"/>
              <a:t>at the </a:t>
            </a:r>
            <a:r>
              <a:rPr lang="en-US" b="1" dirty="0">
                <a:solidFill>
                  <a:srgbClr val="C00000"/>
                </a:solidFill>
              </a:rPr>
              <a:t>left end </a:t>
            </a:r>
            <a:r>
              <a:rPr lang="en-US" dirty="0"/>
              <a:t>and </a:t>
            </a:r>
          </a:p>
          <a:p>
            <a:pPr lvl="1">
              <a:buClrTx/>
            </a:pP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unsorted part </a:t>
            </a:r>
            <a:r>
              <a:rPr lang="en-US" dirty="0"/>
              <a:t>at the </a:t>
            </a:r>
            <a:r>
              <a:rPr lang="en-US" b="1" dirty="0">
                <a:solidFill>
                  <a:srgbClr val="C00000"/>
                </a:solidFill>
              </a:rPr>
              <a:t>right end</a:t>
            </a:r>
            <a:r>
              <a:rPr lang="en-US" dirty="0"/>
              <a:t>. </a:t>
            </a:r>
          </a:p>
          <a:p>
            <a:r>
              <a:rPr lang="en-US" dirty="0"/>
              <a:t>Initially, the sorted part is empty and the unsorted part is the entire list.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smallest element </a:t>
            </a:r>
            <a:r>
              <a:rPr lang="en-US" dirty="0"/>
              <a:t>is </a:t>
            </a:r>
            <a:r>
              <a:rPr lang="en-US" b="1" dirty="0">
                <a:solidFill>
                  <a:srgbClr val="C00000"/>
                </a:solidFill>
              </a:rPr>
              <a:t>selected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from the </a:t>
            </a:r>
            <a:r>
              <a:rPr lang="en-US" b="1" dirty="0">
                <a:solidFill>
                  <a:srgbClr val="C00000"/>
                </a:solidFill>
              </a:rPr>
              <a:t>unsorted array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swapped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with the </a:t>
            </a:r>
            <a:r>
              <a:rPr lang="en-US" b="1" dirty="0">
                <a:solidFill>
                  <a:srgbClr val="C00000"/>
                </a:solidFill>
              </a:rPr>
              <a:t>leftmost element</a:t>
            </a:r>
            <a:r>
              <a:rPr lang="en-US" dirty="0"/>
              <a:t>, and that element becomes a part of the sorted array. </a:t>
            </a:r>
          </a:p>
          <a:p>
            <a:r>
              <a:rPr lang="en-US" dirty="0"/>
              <a:t>This process continues moving unsorted array boundary by one element to the right.</a:t>
            </a:r>
          </a:p>
        </p:txBody>
      </p:sp>
    </p:spTree>
    <p:extLst>
      <p:ext uri="{BB962C8B-B14F-4D97-AF65-F5344CB8AC3E}">
        <p14:creationId xmlns:p14="http://schemas.microsoft.com/office/powerpoint/2010/main" val="334709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algorithm works well with small data sets.</a:t>
            </a:r>
          </a:p>
          <a:p>
            <a:r>
              <a:rPr lang="en-US" dirty="0"/>
              <a:t>This algorithm is </a:t>
            </a:r>
            <a:r>
              <a:rPr lang="en-US" b="1" dirty="0">
                <a:solidFill>
                  <a:srgbClr val="C00000"/>
                </a:solidFill>
              </a:rPr>
              <a:t>not suitable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</a:t>
            </a:r>
            <a:r>
              <a:rPr lang="en-US" b="1" dirty="0">
                <a:solidFill>
                  <a:srgbClr val="C00000"/>
                </a:solidFill>
              </a:rPr>
              <a:t>large data sets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as its average/best/worst case complexities are of </a:t>
            </a:r>
            <a:r>
              <a:rPr lang="en-US" b="1" dirty="0">
                <a:solidFill>
                  <a:srgbClr val="C00000"/>
                </a:solidFill>
              </a:rPr>
              <a:t>Ο(n</a:t>
            </a:r>
            <a:r>
              <a:rPr lang="en-US" b="1" baseline="30000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dirty="0"/>
              <a:t>, where n is the number of items.</a:t>
            </a:r>
          </a:p>
          <a:p>
            <a:r>
              <a:rPr lang="en-US" dirty="0"/>
              <a:t>This algorithm is </a:t>
            </a:r>
            <a:r>
              <a:rPr lang="en-US" b="1" dirty="0">
                <a:solidFill>
                  <a:srgbClr val="C00000"/>
                </a:solidFill>
              </a:rPr>
              <a:t>not stable algorithm</a:t>
            </a:r>
            <a:r>
              <a:rPr lang="en-US" dirty="0"/>
              <a:t>, as it doesn’t preserve the relative order of items with equal keys.</a:t>
            </a:r>
          </a:p>
          <a:p>
            <a:r>
              <a:rPr lang="en-US" dirty="0"/>
              <a:t>It is an </a:t>
            </a:r>
            <a:r>
              <a:rPr lang="en-US" b="1" dirty="0">
                <a:solidFill>
                  <a:srgbClr val="C00000"/>
                </a:solidFill>
              </a:rPr>
              <a:t>in-place algorithm</a:t>
            </a:r>
            <a:r>
              <a:rPr lang="en-US" dirty="0"/>
              <a:t>, as it doesn’t require any extra space.</a:t>
            </a:r>
          </a:p>
        </p:txBody>
      </p:sp>
    </p:spTree>
    <p:extLst>
      <p:ext uri="{BB962C8B-B14F-4D97-AF65-F5344CB8AC3E}">
        <p14:creationId xmlns:p14="http://schemas.microsoft.com/office/powerpoint/2010/main" val="203559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47528" y="1272972"/>
          <a:ext cx="521547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73124" y="811308"/>
            <a:ext cx="2045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Unsorted Array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905000" y="2030507"/>
            <a:ext cx="838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05000" y="2030507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 :</a:t>
            </a:r>
            <a:endParaRPr lang="en-US" b="1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023528" y="2777267"/>
          <a:ext cx="5215472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549124" y="2315603"/>
            <a:ext cx="2045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Unsorted Array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023528" y="3310667"/>
          <a:ext cx="5215472" cy="39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Connector 10"/>
          <p:cNvCxnSpPr/>
          <p:nvPr/>
        </p:nvCxnSpPr>
        <p:spPr>
          <a:xfrm>
            <a:off x="1905000" y="3947175"/>
            <a:ext cx="838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05000" y="3947175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7543800" y="4366275"/>
            <a:ext cx="2442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Min index = 0, value =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33600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7000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7936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1336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4736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8136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1536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74936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33600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67000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7936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1336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4736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8136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41536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74936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7428" y="4917177"/>
            <a:ext cx="2112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Find min value from </a:t>
            </a:r>
          </a:p>
          <a:p>
            <a:pPr algn="ctr"/>
            <a:r>
              <a:rPr lang="en-US" dirty="0"/>
              <a:t>Unsorted array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Index = 3, value = -5</a:t>
            </a:r>
          </a:p>
        </p:txBody>
      </p:sp>
      <p:sp>
        <p:nvSpPr>
          <p:cNvPr id="36" name="Freeform 35"/>
          <p:cNvSpPr/>
          <p:nvPr/>
        </p:nvSpPr>
        <p:spPr>
          <a:xfrm>
            <a:off x="2133601" y="4697508"/>
            <a:ext cx="4262077" cy="122945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  <a:ln w="28575">
            <a:solidFill>
              <a:srgbClr val="B8474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2661238" y="4316507"/>
            <a:ext cx="373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(elements 0 to 7)</a:t>
            </a:r>
          </a:p>
        </p:txBody>
      </p:sp>
      <p:sp>
        <p:nvSpPr>
          <p:cNvPr id="39" name="Freeform 38"/>
          <p:cNvSpPr/>
          <p:nvPr/>
        </p:nvSpPr>
        <p:spPr>
          <a:xfrm>
            <a:off x="2390274" y="5611907"/>
            <a:ext cx="1636294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2757029" y="5840507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33600" y="4872319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1336" y="4872319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08139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3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95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9" grpId="0"/>
      <p:bldP spid="12" grpId="0" animBg="1"/>
      <p:bldP spid="16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6" grpId="1" animBg="1"/>
      <p:bldP spid="27" grpId="0" animBg="1"/>
      <p:bldP spid="28" grpId="0" animBg="1"/>
      <p:bldP spid="29" grpId="0" animBg="1"/>
      <p:bldP spid="29" grpId="1" animBg="1"/>
      <p:bldP spid="30" grpId="0" animBg="1"/>
      <p:bldP spid="31" grpId="0" animBg="1"/>
      <p:bldP spid="32" grpId="0" animBg="1"/>
      <p:bldP spid="33" grpId="0" animBg="1"/>
      <p:bldP spid="34" grpId="0"/>
      <p:bldP spid="36" grpId="0" animBg="1"/>
      <p:bldP spid="37" grpId="0"/>
      <p:bldP spid="39" grpId="0" animBg="1"/>
      <p:bldP spid="40" grpId="0"/>
      <p:bldP spid="41" grpId="0" animBg="1"/>
      <p:bldP spid="4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8511" y="889490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3 :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1752600" y="161638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61638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6936" y="161638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0336" y="161638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3893736" y="161638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7136" y="161638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60536" y="161638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93936" y="161638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2600" y="203249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03249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26936" y="203249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0336" y="203249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93736" y="203249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27136" y="203249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60536" y="203249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93936" y="203249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1" name="Freeform 20"/>
          <p:cNvSpPr/>
          <p:nvPr/>
        </p:nvSpPr>
        <p:spPr>
          <a:xfrm>
            <a:off x="2286001" y="1430261"/>
            <a:ext cx="3741337" cy="158049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  <a:ln w="28575">
            <a:solidFill>
              <a:srgbClr val="B8474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711112" y="1077337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(elements 1 to 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889490"/>
            <a:ext cx="2442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Min index = 1, value =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6028" y="1440392"/>
            <a:ext cx="2112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Find min value from </a:t>
            </a:r>
          </a:p>
          <a:p>
            <a:pPr algn="ctr"/>
            <a:r>
              <a:rPr lang="en-US" dirty="0"/>
              <a:t>Unsorted array</a:t>
            </a:r>
          </a:p>
          <a:p>
            <a:pPr algn="ctr"/>
            <a:r>
              <a:rPr lang="en-US" dirty="0"/>
              <a:t>Index = 1, value =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2022" y="2696599"/>
            <a:ext cx="4908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No Swapping as min value is already at right place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161638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1752600" y="3229999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52600" y="3229999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4 :</a:t>
            </a: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1752600" y="4390568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4390568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26936" y="4390568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60336" y="4390568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3736" y="4390568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27136" y="4390568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60536" y="4390568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93936" y="4390568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2600" y="480667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480667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26936" y="480667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60336" y="480667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93736" y="480667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27136" y="480667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60536" y="480667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93936" y="480667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45" name="Freeform 44"/>
          <p:cNvSpPr/>
          <p:nvPr/>
        </p:nvSpPr>
        <p:spPr>
          <a:xfrm>
            <a:off x="2819401" y="4197073"/>
            <a:ext cx="3207937" cy="158049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  <a:ln w="28575">
            <a:solidFill>
              <a:srgbClr val="B8474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2743200" y="3511273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(elements 2 to 7)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22225" y="3953899"/>
            <a:ext cx="2559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Min index = 2, value = 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5853" y="4504801"/>
            <a:ext cx="2112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Find min value from </a:t>
            </a:r>
          </a:p>
          <a:p>
            <a:pPr algn="ctr"/>
            <a:r>
              <a:rPr lang="en-US" dirty="0"/>
              <a:t>Unsorted array</a:t>
            </a:r>
          </a:p>
          <a:p>
            <a:pPr algn="ctr"/>
            <a:r>
              <a:rPr lang="en-US" dirty="0"/>
              <a:t>Index = 5, value = 2</a:t>
            </a:r>
          </a:p>
        </p:txBody>
      </p:sp>
      <p:sp>
        <p:nvSpPr>
          <p:cNvPr id="49" name="Freeform 48"/>
          <p:cNvSpPr/>
          <p:nvPr/>
        </p:nvSpPr>
        <p:spPr>
          <a:xfrm>
            <a:off x="3075589" y="5211199"/>
            <a:ext cx="1636294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3442344" y="5439799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26936" y="4390568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27136" y="4390568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349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1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1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22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" dur="1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138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4" grpId="1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39" grpId="1" animBg="1"/>
      <p:bldP spid="40" grpId="0" animBg="1"/>
      <p:bldP spid="41" grpId="0" animBg="1"/>
      <p:bldP spid="42" grpId="0" animBg="1"/>
      <p:bldP spid="42" grpId="1" animBg="1"/>
      <p:bldP spid="43" grpId="0" animBg="1"/>
      <p:bldP spid="44" grpId="0" animBg="1"/>
      <p:bldP spid="45" grpId="0" animBg="1"/>
      <p:bldP spid="46" grpId="0"/>
      <p:bldP spid="47" grpId="0"/>
      <p:bldP spid="48" grpId="0"/>
      <p:bldP spid="49" grpId="0" animBg="1"/>
      <p:bldP spid="50" grpId="0"/>
      <p:bldP spid="52" grpId="0" animBg="1"/>
      <p:bldP spid="5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2600" y="797860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5 :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1752600" y="1958429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958429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826936" y="1958429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0336" y="195842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93736" y="195842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7136" y="195842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60536" y="195842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93936" y="195842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52600" y="23745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3745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26936" y="23745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0336" y="23745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93736" y="23745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7136" y="23745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60536" y="23745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93936" y="2374533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2" name="Freeform 21"/>
          <p:cNvSpPr/>
          <p:nvPr/>
        </p:nvSpPr>
        <p:spPr>
          <a:xfrm>
            <a:off x="3360337" y="1764934"/>
            <a:ext cx="2667001" cy="158049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  <a:ln w="28575">
            <a:solidFill>
              <a:srgbClr val="B8474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7522225" y="1521760"/>
            <a:ext cx="2442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Min index = 3, value =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5853" y="2072662"/>
            <a:ext cx="2112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Find min value from </a:t>
            </a:r>
          </a:p>
          <a:p>
            <a:pPr algn="ctr"/>
            <a:r>
              <a:rPr lang="en-US" dirty="0"/>
              <a:t>Unsorted array</a:t>
            </a:r>
          </a:p>
          <a:p>
            <a:pPr algn="ctr"/>
            <a:r>
              <a:rPr lang="en-US" dirty="0"/>
              <a:t>Index = 3, value =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2600" y="3781328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6 :</a:t>
            </a:r>
            <a:endParaRPr lang="en-US" b="1" dirty="0"/>
          </a:p>
        </p:txBody>
      </p:sp>
      <p:sp>
        <p:nvSpPr>
          <p:cNvPr id="31" name="Rectangle 30"/>
          <p:cNvSpPr/>
          <p:nvPr/>
        </p:nvSpPr>
        <p:spPr>
          <a:xfrm>
            <a:off x="1752600" y="4941897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4941897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26936" y="4941897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60336" y="4941897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93736" y="4941897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27136" y="4941897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60536" y="4941897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93936" y="4941897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52600" y="535800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535800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26936" y="535800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60336" y="535800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93736" y="535800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27136" y="535800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60536" y="535800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93936" y="5358001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47" name="Freeform 46"/>
          <p:cNvSpPr/>
          <p:nvPr/>
        </p:nvSpPr>
        <p:spPr>
          <a:xfrm>
            <a:off x="3907595" y="4748402"/>
            <a:ext cx="2119742" cy="158049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  <a:ln w="28575">
            <a:solidFill>
              <a:srgbClr val="B8474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7522225" y="4505228"/>
            <a:ext cx="2559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Min index = 4, value = 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95853" y="5056130"/>
            <a:ext cx="2112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Find min value from </a:t>
            </a:r>
          </a:p>
          <a:p>
            <a:pPr algn="ctr"/>
            <a:r>
              <a:rPr lang="en-US" dirty="0"/>
              <a:t>Unsorted array</a:t>
            </a:r>
          </a:p>
          <a:p>
            <a:pPr algn="ctr"/>
            <a:r>
              <a:rPr lang="en-US" dirty="0"/>
              <a:t>Index = 5, value = 12</a:t>
            </a:r>
          </a:p>
        </p:txBody>
      </p:sp>
      <p:sp>
        <p:nvSpPr>
          <p:cNvPr id="51" name="Freeform 50"/>
          <p:cNvSpPr/>
          <p:nvPr/>
        </p:nvSpPr>
        <p:spPr>
          <a:xfrm>
            <a:off x="4158726" y="5674117"/>
            <a:ext cx="533400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3974519" y="5902717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71074" y="1079134"/>
            <a:ext cx="1805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(elements 3 to 7)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10200" y="3139534"/>
            <a:ext cx="4908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No Swapping as min value is already at right place </a:t>
            </a:r>
          </a:p>
        </p:txBody>
      </p:sp>
      <p:cxnSp>
        <p:nvCxnSpPr>
          <p:cNvPr id="55" name="Straight Connector 54"/>
          <p:cNvCxnSpPr/>
          <p:nvPr/>
        </p:nvCxnSpPr>
        <p:spPr>
          <a:xfrm>
            <a:off x="1752600" y="3769660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3360336" y="1958429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61650" y="4076277"/>
            <a:ext cx="1805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(elements 5 to 7)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93736" y="4941897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27136" y="4941897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885606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1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1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22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" dur="1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1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138" dur="1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1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7" grpId="1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/>
      <p:bldP spid="25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3" grpId="1" animBg="1"/>
      <p:bldP spid="44" grpId="0" animBg="1"/>
      <p:bldP spid="44" grpId="1" animBg="1"/>
      <p:bldP spid="45" grpId="0" animBg="1"/>
      <p:bldP spid="46" grpId="0" animBg="1"/>
      <p:bldP spid="47" grpId="0" animBg="1"/>
      <p:bldP spid="49" grpId="0"/>
      <p:bldP spid="50" grpId="0"/>
      <p:bldP spid="51" grpId="0" animBg="1"/>
      <p:bldP spid="52" grpId="0"/>
      <p:bldP spid="53" grpId="0"/>
      <p:bldP spid="54" grpId="0"/>
      <p:bldP spid="56" grpId="0" animBg="1"/>
      <p:bldP spid="57" grpId="0"/>
      <p:bldP spid="58" grpId="0" animBg="1"/>
      <p:bldP spid="5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2600" y="811307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7 :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1752600" y="19718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9718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826936" y="19718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0336" y="19718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93736" y="19718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7136" y="197187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60536" y="197187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93936" y="197187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52600" y="23879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3879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26936" y="23879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0336" y="23879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93736" y="23879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7136" y="23879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60536" y="23879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93936" y="23879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2" name="Freeform 21"/>
          <p:cNvSpPr/>
          <p:nvPr/>
        </p:nvSpPr>
        <p:spPr>
          <a:xfrm>
            <a:off x="4427137" y="1778381"/>
            <a:ext cx="1600201" cy="158049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  <a:ln w="28575">
            <a:solidFill>
              <a:srgbClr val="B8474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7522225" y="1535207"/>
            <a:ext cx="2559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Min index = 5, value = 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5853" y="2086109"/>
            <a:ext cx="2112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Find min value from </a:t>
            </a:r>
          </a:p>
          <a:p>
            <a:pPr algn="ctr"/>
            <a:r>
              <a:rPr lang="en-US" dirty="0"/>
              <a:t>Unsorted array</a:t>
            </a:r>
          </a:p>
          <a:p>
            <a:pPr algn="ctr"/>
            <a:r>
              <a:rPr lang="en-US" dirty="0"/>
              <a:t>Index = 6, value = 12</a:t>
            </a:r>
          </a:p>
        </p:txBody>
      </p:sp>
      <p:sp>
        <p:nvSpPr>
          <p:cNvPr id="25" name="Freeform 24"/>
          <p:cNvSpPr/>
          <p:nvPr/>
        </p:nvSpPr>
        <p:spPr>
          <a:xfrm>
            <a:off x="4696447" y="2727959"/>
            <a:ext cx="520883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28074" y="2956559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27136" y="19718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60536" y="1971876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7855" y="1056202"/>
            <a:ext cx="1805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(elements 5 to 7)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2600" y="47912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-5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47912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26936" y="47912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60336" y="47912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93736" y="47912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27136" y="47912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60536" y="479127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93936" y="479127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52600" y="52073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52073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26936" y="52073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60336" y="52073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93736" y="52073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27136" y="52073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60536" y="52073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93936" y="520738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47" name="Freeform 46"/>
          <p:cNvSpPr/>
          <p:nvPr/>
        </p:nvSpPr>
        <p:spPr>
          <a:xfrm>
            <a:off x="4960537" y="4597781"/>
            <a:ext cx="1066801" cy="158049"/>
          </a:xfrm>
          <a:custGeom>
            <a:avLst/>
            <a:gdLst>
              <a:gd name="connsiteX0" fmla="*/ 0 w 3734440"/>
              <a:gd name="connsiteY0" fmla="*/ 122945 h 122945"/>
              <a:gd name="connsiteX1" fmla="*/ 0 w 3734440"/>
              <a:gd name="connsiteY1" fmla="*/ 0 h 122945"/>
              <a:gd name="connsiteX2" fmla="*/ 3734440 w 3734440"/>
              <a:gd name="connsiteY2" fmla="*/ 0 h 122945"/>
              <a:gd name="connsiteX3" fmla="*/ 3734440 w 3734440"/>
              <a:gd name="connsiteY3" fmla="*/ 92209 h 122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4440" h="122945">
                <a:moveTo>
                  <a:pt x="0" y="122945"/>
                </a:moveTo>
                <a:lnTo>
                  <a:pt x="0" y="0"/>
                </a:lnTo>
                <a:lnTo>
                  <a:pt x="3734440" y="0"/>
                </a:lnTo>
                <a:lnTo>
                  <a:pt x="3734440" y="92209"/>
                </a:lnTo>
              </a:path>
            </a:pathLst>
          </a:custGeom>
          <a:ln w="28575">
            <a:solidFill>
              <a:srgbClr val="B8474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7522225" y="4354607"/>
            <a:ext cx="2559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Min index = 6, value = 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5853" y="4905509"/>
            <a:ext cx="2112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Find min value from </a:t>
            </a:r>
          </a:p>
          <a:p>
            <a:pPr algn="ctr"/>
            <a:r>
              <a:rPr lang="en-US" dirty="0"/>
              <a:t>Unsorted array</a:t>
            </a:r>
          </a:p>
          <a:p>
            <a:pPr algn="ctr"/>
            <a:r>
              <a:rPr lang="en-US" dirty="0"/>
              <a:t>Index = 7, value = 14</a:t>
            </a:r>
          </a:p>
        </p:txBody>
      </p:sp>
      <p:sp>
        <p:nvSpPr>
          <p:cNvPr id="50" name="Freeform 49"/>
          <p:cNvSpPr/>
          <p:nvPr/>
        </p:nvSpPr>
        <p:spPr>
          <a:xfrm>
            <a:off x="5222453" y="5547359"/>
            <a:ext cx="520883" cy="228600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5029200" y="5775959"/>
            <a:ext cx="90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60536" y="4791276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93936" y="4791276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91061" y="3922467"/>
            <a:ext cx="1805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Unsorted Array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(elements 6 to 7)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2600" y="3794775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8 :</a:t>
            </a:r>
            <a:endParaRPr lang="en-US" b="1" dirty="0"/>
          </a:p>
        </p:txBody>
      </p:sp>
      <p:cxnSp>
        <p:nvCxnSpPr>
          <p:cNvPr id="56" name="Straight Connector 55"/>
          <p:cNvCxnSpPr/>
          <p:nvPr/>
        </p:nvCxnSpPr>
        <p:spPr>
          <a:xfrm>
            <a:off x="1752600" y="3783107"/>
            <a:ext cx="8724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187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51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1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67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6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1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  <p:set>
                                      <p:cBhvr>
                                        <p:cTn id="152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BACC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19" grpId="1" animBg="1"/>
      <p:bldP spid="20" grpId="0" animBg="1"/>
      <p:bldP spid="20" grpId="1" animBg="1"/>
      <p:bldP spid="21" grpId="0" animBg="1"/>
      <p:bldP spid="22" grpId="0" animBg="1"/>
      <p:bldP spid="23" grpId="0"/>
      <p:bldP spid="24" grpId="0"/>
      <p:bldP spid="25" grpId="0" animBg="1"/>
      <p:bldP spid="26" grpId="0"/>
      <p:bldP spid="27" grpId="0" animBg="1"/>
      <p:bldP spid="28" grpId="0" animBg="1"/>
      <p:bldP spid="29" grpId="0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5" grpId="1" animBg="1"/>
      <p:bldP spid="46" grpId="0" animBg="1"/>
      <p:bldP spid="46" grpId="1" animBg="1"/>
      <p:bldP spid="47" grpId="0" animBg="1"/>
      <p:bldP spid="48" grpId="0"/>
      <p:bldP spid="49" grpId="0"/>
      <p:bldP spid="50" grpId="0" animBg="1"/>
      <p:bldP spid="51" grpId="0"/>
      <p:bldP spid="52" grpId="0" animBg="1"/>
      <p:bldP spid="53" grpId="0" animBg="1"/>
      <p:bldP spid="54" grpId="0"/>
      <p:bldP spid="5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SELECTION_SORT(K,N)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</a:t>
            </a:r>
            <a:r>
              <a:rPr lang="en-US" b="1" dirty="0"/>
              <a:t>vector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K</a:t>
            </a:r>
            <a:r>
              <a:rPr lang="en-US" dirty="0"/>
              <a:t> of </a:t>
            </a:r>
            <a:r>
              <a:rPr lang="en-US" b="1" dirty="0">
                <a:solidFill>
                  <a:srgbClr val="C00000"/>
                </a:solidFill>
              </a:rPr>
              <a:t>N</a:t>
            </a:r>
            <a:r>
              <a:rPr lang="en-US" dirty="0"/>
              <a:t> elements</a:t>
            </a:r>
          </a:p>
          <a:p>
            <a:r>
              <a:rPr lang="en-US" dirty="0"/>
              <a:t>This procedure </a:t>
            </a:r>
            <a:r>
              <a:rPr lang="en-US" b="1" dirty="0">
                <a:solidFill>
                  <a:srgbClr val="C00000"/>
                </a:solidFill>
              </a:rPr>
              <a:t>rearrange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vector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 </a:t>
            </a:r>
            <a:r>
              <a:rPr lang="en-US" b="1" dirty="0">
                <a:solidFill>
                  <a:srgbClr val="C00000"/>
                </a:solidFill>
              </a:rPr>
              <a:t>ascending order</a:t>
            </a:r>
            <a:r>
              <a:rPr lang="en-US" dirty="0"/>
              <a:t> using </a:t>
            </a:r>
            <a:r>
              <a:rPr lang="en-US" b="1" dirty="0">
                <a:solidFill>
                  <a:srgbClr val="C00000"/>
                </a:solidFill>
              </a:rPr>
              <a:t>Selection Sort</a:t>
            </a:r>
          </a:p>
          <a:p>
            <a:r>
              <a:rPr lang="en-US" dirty="0"/>
              <a:t>The variable </a:t>
            </a:r>
            <a:r>
              <a:rPr lang="en-US" b="1" dirty="0">
                <a:solidFill>
                  <a:srgbClr val="C00000"/>
                </a:solidFill>
              </a:rPr>
              <a:t>i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denotes the </a:t>
            </a:r>
            <a:r>
              <a:rPr lang="en-US" b="1" dirty="0">
                <a:solidFill>
                  <a:srgbClr val="C00000"/>
                </a:solidFill>
              </a:rPr>
              <a:t>pass index</a:t>
            </a:r>
            <a:r>
              <a:rPr lang="en-US" dirty="0"/>
              <a:t> and position of the first element in the vector</a:t>
            </a:r>
          </a:p>
          <a:p>
            <a:r>
              <a:rPr lang="en-US" dirty="0"/>
              <a:t>The variable </a:t>
            </a:r>
            <a:r>
              <a:rPr lang="en-US" b="1" dirty="0">
                <a:solidFill>
                  <a:srgbClr val="C00000"/>
                </a:solidFill>
              </a:rPr>
              <a:t>MIN_INDEX</a:t>
            </a:r>
            <a:r>
              <a:rPr lang="en-US" dirty="0"/>
              <a:t> denotes the </a:t>
            </a:r>
            <a:r>
              <a:rPr lang="en-US" b="1" dirty="0"/>
              <a:t>position of</a:t>
            </a:r>
            <a:r>
              <a:rPr lang="en-US" dirty="0"/>
              <a:t> the </a:t>
            </a:r>
            <a:r>
              <a:rPr lang="en-US" b="1" dirty="0">
                <a:solidFill>
                  <a:srgbClr val="C00000"/>
                </a:solidFill>
              </a:rPr>
              <a:t>smallest element </a:t>
            </a:r>
            <a:r>
              <a:rPr lang="en-US" dirty="0"/>
              <a:t>encountered</a:t>
            </a:r>
          </a:p>
          <a:p>
            <a:r>
              <a:rPr lang="en-US" dirty="0"/>
              <a:t>The variable </a:t>
            </a:r>
            <a:r>
              <a:rPr lang="en-US" b="1" dirty="0">
                <a:solidFill>
                  <a:srgbClr val="C00000"/>
                </a:solidFill>
              </a:rPr>
              <a:t>j</a:t>
            </a:r>
            <a:r>
              <a:rPr lang="en-US" dirty="0"/>
              <a:t> is used to index elements</a:t>
            </a:r>
          </a:p>
        </p:txBody>
      </p:sp>
    </p:spTree>
    <p:extLst>
      <p:ext uri="{BB962C8B-B14F-4D97-AF65-F5344CB8AC3E}">
        <p14:creationId xmlns:p14="http://schemas.microsoft.com/office/powerpoint/2010/main" val="337632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SELECTION_SORT(K,N)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5153" y="829359"/>
            <a:ext cx="11766176" cy="48936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[Loop on the Pass index]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Repeat thru step 4 for i = 0,1,…….., N-2</a:t>
            </a: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[Initialize minimum index]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MIN_INDEX 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i</a:t>
            </a:r>
            <a:endParaRPr lang="en-IN" sz="2400" dirty="0">
              <a:latin typeface="Consolas" pitchFamily="49" charset="0"/>
              <a:cs typeface="Consolas" pitchFamily="49" charset="0"/>
            </a:endParaRP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[Make a pass and obtain element with smallest value]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Repeat for j = i + 1, i + 2, …………….., N-1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	If 	K[j] &lt; K[MIN_INDEX] 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	Then	MIN_INDEX 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 j</a:t>
            </a:r>
            <a:endParaRPr lang="en-IN" sz="2400" dirty="0">
              <a:latin typeface="Consolas" pitchFamily="49" charset="0"/>
              <a:cs typeface="Consolas" pitchFamily="49" charset="0"/>
            </a:endParaRP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[Exchange elements]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IF	  MIN_INDEX &lt;&gt; i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(not equals to)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Then  K[i]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</a:t>
            </a:r>
            <a:r>
              <a:rPr lang="en-IN" sz="24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K[MIN_INDEX]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(swap elements)</a:t>
            </a: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[Finished]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Return</a:t>
            </a:r>
          </a:p>
        </p:txBody>
      </p:sp>
    </p:spTree>
    <p:extLst>
      <p:ext uri="{BB962C8B-B14F-4D97-AF65-F5344CB8AC3E}">
        <p14:creationId xmlns:p14="http://schemas.microsoft.com/office/powerpoint/2010/main" val="237613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24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67687" cy="5590565"/>
          </a:xfrm>
        </p:spPr>
        <p:txBody>
          <a:bodyPr>
            <a:normAutofit/>
          </a:bodyPr>
          <a:lstStyle/>
          <a:p>
            <a:r>
              <a:rPr lang="en-US" dirty="0"/>
              <a:t>Unlike </a:t>
            </a:r>
            <a:r>
              <a:rPr lang="en-US" b="1" dirty="0">
                <a:solidFill>
                  <a:srgbClr val="C00000"/>
                </a:solidFill>
              </a:rPr>
              <a:t>selection sort</a:t>
            </a:r>
            <a:r>
              <a:rPr lang="en-US" dirty="0"/>
              <a:t>, instead of finding the smallest record and performing the interchange, </a:t>
            </a:r>
            <a:r>
              <a:rPr lang="en-US" b="1" dirty="0"/>
              <a:t>two records are </a:t>
            </a:r>
            <a:r>
              <a:rPr lang="en-US" b="1" dirty="0">
                <a:solidFill>
                  <a:srgbClr val="C00000"/>
                </a:solidFill>
              </a:rPr>
              <a:t>interchanged immediately</a:t>
            </a:r>
            <a:r>
              <a:rPr lang="en-US" dirty="0"/>
              <a:t> upon discovering that </a:t>
            </a:r>
            <a:r>
              <a:rPr lang="en-US" b="1" dirty="0"/>
              <a:t>they are out of order</a:t>
            </a:r>
            <a:r>
              <a:rPr lang="en-US" dirty="0"/>
              <a:t>.</a:t>
            </a:r>
          </a:p>
          <a:p>
            <a:r>
              <a:rPr lang="en-US" dirty="0"/>
              <a:t>During the </a:t>
            </a:r>
            <a:r>
              <a:rPr lang="en-US" b="1" dirty="0">
                <a:solidFill>
                  <a:srgbClr val="C00000"/>
                </a:solidFill>
              </a:rPr>
              <a:t>first pass R</a:t>
            </a:r>
            <a:r>
              <a:rPr lang="en-US" b="1" baseline="-25000" dirty="0">
                <a:solidFill>
                  <a:srgbClr val="C00000"/>
                </a:solidFill>
              </a:rPr>
              <a:t>1</a:t>
            </a:r>
            <a:r>
              <a:rPr lang="en-US" b="1" dirty="0">
                <a:solidFill>
                  <a:srgbClr val="C00000"/>
                </a:solidFill>
              </a:rPr>
              <a:t> and R</a:t>
            </a:r>
            <a:r>
              <a:rPr lang="en-US" b="1" baseline="-25000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C00000"/>
                </a:solidFill>
              </a:rPr>
              <a:t> are compared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interchanged in case of our of order</a:t>
            </a:r>
            <a:r>
              <a:rPr lang="en-US" dirty="0"/>
              <a:t>, this process is repeated for records </a:t>
            </a:r>
            <a:r>
              <a:rPr lang="en-US" b="1" dirty="0">
                <a:solidFill>
                  <a:srgbClr val="C00000"/>
                </a:solidFill>
              </a:rPr>
              <a:t>R</a:t>
            </a:r>
            <a:r>
              <a:rPr lang="en-US" b="1" baseline="-25000" dirty="0">
                <a:solidFill>
                  <a:srgbClr val="C00000"/>
                </a:solidFill>
              </a:rPr>
              <a:t>2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R</a:t>
            </a:r>
            <a:r>
              <a:rPr lang="en-US" b="1" baseline="-25000" dirty="0">
                <a:solidFill>
                  <a:srgbClr val="C00000"/>
                </a:solidFill>
              </a:rPr>
              <a:t>3</a:t>
            </a:r>
            <a:r>
              <a:rPr lang="en-US" dirty="0"/>
              <a:t>, and so on.</a:t>
            </a:r>
          </a:p>
          <a:p>
            <a:r>
              <a:rPr lang="en-US" dirty="0"/>
              <a:t>This method will cause records with </a:t>
            </a:r>
            <a:r>
              <a:rPr lang="en-US" b="1" dirty="0">
                <a:solidFill>
                  <a:srgbClr val="C00000"/>
                </a:solidFill>
              </a:rPr>
              <a:t>small key to move “bubble up”</a:t>
            </a:r>
            <a:r>
              <a:rPr lang="en-US" b="1" dirty="0"/>
              <a:t>.</a:t>
            </a:r>
          </a:p>
          <a:p>
            <a:r>
              <a:rPr lang="en-US" b="1" dirty="0"/>
              <a:t>After</a:t>
            </a:r>
            <a:r>
              <a:rPr lang="en-US" dirty="0"/>
              <a:t> the </a:t>
            </a:r>
            <a:r>
              <a:rPr lang="en-US" b="1" dirty="0"/>
              <a:t>first pass</a:t>
            </a:r>
            <a:r>
              <a:rPr lang="en-US" dirty="0"/>
              <a:t>, the record with </a:t>
            </a:r>
            <a:r>
              <a:rPr lang="en-US" b="1" dirty="0">
                <a:solidFill>
                  <a:srgbClr val="C00000"/>
                </a:solidFill>
              </a:rPr>
              <a:t>largest key</a:t>
            </a:r>
            <a:r>
              <a:rPr lang="en-US" dirty="0"/>
              <a:t> will be in the n-1</a:t>
            </a:r>
            <a:r>
              <a:rPr lang="en-US" b="1" baseline="30000" dirty="0"/>
              <a:t>th</a:t>
            </a:r>
            <a:r>
              <a:rPr lang="en-US" dirty="0"/>
              <a:t> position. On each successive pass, the records with the next largest key will be placed in position n-2, n-3 ….., 2,1 respectively.</a:t>
            </a:r>
          </a:p>
          <a:p>
            <a:r>
              <a:rPr lang="en-US" dirty="0"/>
              <a:t>This approach requires at most n–1 passes.</a:t>
            </a:r>
          </a:p>
        </p:txBody>
      </p:sp>
    </p:spTree>
    <p:extLst>
      <p:ext uri="{BB962C8B-B14F-4D97-AF65-F5344CB8AC3E}">
        <p14:creationId xmlns:p14="http://schemas.microsoft.com/office/powerpoint/2010/main" val="3959011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67687" cy="5590565"/>
          </a:xfrm>
        </p:spPr>
        <p:txBody>
          <a:bodyPr>
            <a:normAutofit/>
          </a:bodyPr>
          <a:lstStyle/>
          <a:p>
            <a:r>
              <a:rPr lang="en-US" dirty="0"/>
              <a:t>This is </a:t>
            </a:r>
            <a:r>
              <a:rPr lang="en-US" b="1" dirty="0">
                <a:solidFill>
                  <a:srgbClr val="C00000"/>
                </a:solidFill>
              </a:rPr>
              <a:t>stable sorting </a:t>
            </a:r>
            <a:r>
              <a:rPr lang="en-US" dirty="0"/>
              <a:t>algorithm, as the elements with the same keys maintain their relative order in the sorted output as well.</a:t>
            </a:r>
          </a:p>
          <a:p>
            <a:r>
              <a:rPr lang="en-US" dirty="0"/>
              <a:t>This is</a:t>
            </a:r>
            <a:r>
              <a:rPr lang="en-US" b="1" dirty="0">
                <a:solidFill>
                  <a:srgbClr val="C00000"/>
                </a:solidFill>
              </a:rPr>
              <a:t> in-place </a:t>
            </a:r>
            <a:r>
              <a:rPr lang="en-US" dirty="0"/>
              <a:t>algorithm as it doesn’t require ant extra space to sort the elements.</a:t>
            </a:r>
          </a:p>
          <a:p>
            <a:r>
              <a:rPr lang="en-US" dirty="0"/>
              <a:t>This seems </a:t>
            </a:r>
            <a:r>
              <a:rPr lang="en-US" b="1" dirty="0">
                <a:solidFill>
                  <a:srgbClr val="C00000"/>
                </a:solidFill>
              </a:rPr>
              <a:t>slow for large data sets </a:t>
            </a:r>
            <a:r>
              <a:rPr lang="en-US" dirty="0"/>
              <a:t>as the </a:t>
            </a:r>
            <a:r>
              <a:rPr lang="en-US" b="1" dirty="0">
                <a:solidFill>
                  <a:srgbClr val="C00000"/>
                </a:solidFill>
              </a:rPr>
              <a:t>worst case </a:t>
            </a:r>
            <a:r>
              <a:rPr lang="en-US" dirty="0"/>
              <a:t>time </a:t>
            </a:r>
            <a:r>
              <a:rPr lang="en-US" b="1" dirty="0">
                <a:solidFill>
                  <a:srgbClr val="C00000"/>
                </a:solidFill>
              </a:rPr>
              <a:t>complexity </a:t>
            </a:r>
            <a:r>
              <a:rPr lang="en-US" dirty="0"/>
              <a:t>of bubble sort is </a:t>
            </a:r>
            <a:r>
              <a:rPr lang="en-US" b="1" dirty="0">
                <a:solidFill>
                  <a:srgbClr val="C00000"/>
                </a:solidFill>
              </a:rPr>
              <a:t>O(n</a:t>
            </a:r>
            <a:r>
              <a:rPr lang="en-US" b="1" baseline="30000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b="1" dirty="0"/>
              <a:t>.</a:t>
            </a:r>
          </a:p>
          <a:p>
            <a:r>
              <a:rPr lang="en-US" dirty="0"/>
              <a:t>For the input list which is already sorted (best case), the algorithm can get early exist.</a:t>
            </a:r>
          </a:p>
          <a:p>
            <a:r>
              <a:rPr lang="en-US" dirty="0"/>
              <a:t>So the </a:t>
            </a:r>
            <a:r>
              <a:rPr lang="en-US" b="1" dirty="0">
                <a:solidFill>
                  <a:srgbClr val="C00000"/>
                </a:solidFill>
              </a:rPr>
              <a:t>best case </a:t>
            </a:r>
            <a:r>
              <a:rPr lang="en-US" dirty="0"/>
              <a:t>time complexity is </a:t>
            </a:r>
            <a:r>
              <a:rPr lang="en-US" b="1" dirty="0">
                <a:solidFill>
                  <a:srgbClr val="C00000"/>
                </a:solidFill>
              </a:rPr>
              <a:t>O(n).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51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38600" y="1331260"/>
          <a:ext cx="3810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73124" y="797861"/>
            <a:ext cx="2045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Unsorted Array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90268" y="1999132"/>
            <a:ext cx="11998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0268" y="1999132"/>
            <a:ext cx="92044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1 :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318867" y="2550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8867" y="2931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867" y="3312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867" y="3693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867" y="4074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97470" y="2550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97470" y="2931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97470" y="3312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97470" y="3693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97470" y="4074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66585" y="2550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66585" y="2931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66585" y="3312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66585" y="3693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66585" y="4074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50773" y="2550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50773" y="2931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50773" y="3312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50773" y="3693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50773" y="4074460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3" name="Freeform 2"/>
          <p:cNvSpPr/>
          <p:nvPr/>
        </p:nvSpPr>
        <p:spPr>
          <a:xfrm>
            <a:off x="842032" y="2706272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318867" y="255046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8867" y="293146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377" y="2655831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33" name="Freeform 32"/>
          <p:cNvSpPr/>
          <p:nvPr/>
        </p:nvSpPr>
        <p:spPr>
          <a:xfrm>
            <a:off x="2899986" y="3462727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064899" y="3400459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66585" y="331246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66585" y="369346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43" name="Freeform 42"/>
          <p:cNvSpPr/>
          <p:nvPr/>
        </p:nvSpPr>
        <p:spPr>
          <a:xfrm>
            <a:off x="4095749" y="3849272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4245507" y="3783193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50773" y="3693460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50773" y="4074460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71412" y="1999132"/>
            <a:ext cx="92044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2 :</a:t>
            </a:r>
            <a:endParaRPr lang="en-US" b="1" dirty="0"/>
          </a:p>
        </p:txBody>
      </p:sp>
      <p:sp>
        <p:nvSpPr>
          <p:cNvPr id="41" name="Rectangle 40"/>
          <p:cNvSpPr/>
          <p:nvPr/>
        </p:nvSpPr>
        <p:spPr>
          <a:xfrm>
            <a:off x="4793340" y="2532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93340" y="2913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93340" y="3294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93340" y="3675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93340" y="4056532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cxnSp>
        <p:nvCxnSpPr>
          <p:cNvPr id="50" name="Straight Connector 49"/>
          <p:cNvCxnSpPr/>
          <p:nvPr/>
        </p:nvCxnSpPr>
        <p:spPr>
          <a:xfrm>
            <a:off x="90268" y="4707162"/>
            <a:ext cx="11998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5771044" y="2532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71044" y="2913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71044" y="3294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71044" y="3675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71044" y="4056532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15216" y="2532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15216" y="2913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15216" y="3294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15216" y="3675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15216" y="4056532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09672" y="2532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09672" y="2913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09672" y="3294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09672" y="3675532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09672" y="4056532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66" name="Freeform 65"/>
          <p:cNvSpPr/>
          <p:nvPr/>
        </p:nvSpPr>
        <p:spPr>
          <a:xfrm>
            <a:off x="6316775" y="3094707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6481688" y="3032439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71044" y="2913532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71044" y="3294532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70" name="Freeform 69"/>
          <p:cNvSpPr/>
          <p:nvPr/>
        </p:nvSpPr>
        <p:spPr>
          <a:xfrm>
            <a:off x="7466808" y="3465583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7631721" y="3403315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915216" y="3294532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15216" y="3675532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13665" y="1999132"/>
            <a:ext cx="92044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3 :</a:t>
            </a:r>
            <a:endParaRPr lang="en-US" b="1" dirty="0"/>
          </a:p>
        </p:txBody>
      </p:sp>
      <p:cxnSp>
        <p:nvCxnSpPr>
          <p:cNvPr id="75" name="Straight Connector 74"/>
          <p:cNvCxnSpPr/>
          <p:nvPr/>
        </p:nvCxnSpPr>
        <p:spPr>
          <a:xfrm flipV="1">
            <a:off x="8021867" y="2013199"/>
            <a:ext cx="0" cy="2702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9522588" y="2529601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522588" y="2910601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522588" y="3291601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522588" y="3672601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522588" y="4053601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062834" y="2532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1062834" y="29135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062834" y="3294532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062834" y="3675532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062834" y="4056532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56</a:t>
            </a:r>
          </a:p>
        </p:txBody>
      </p:sp>
      <p:sp>
        <p:nvSpPr>
          <p:cNvPr id="86" name="Freeform 85"/>
          <p:cNvSpPr/>
          <p:nvPr/>
        </p:nvSpPr>
        <p:spPr>
          <a:xfrm>
            <a:off x="8853983" y="2697749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/>
          <p:cNvSpPr txBox="1"/>
          <p:nvPr/>
        </p:nvSpPr>
        <p:spPr>
          <a:xfrm>
            <a:off x="9018896" y="2635481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09672" y="2532532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309672" y="2913532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90" name="Freeform 89"/>
          <p:cNvSpPr/>
          <p:nvPr/>
        </p:nvSpPr>
        <p:spPr>
          <a:xfrm>
            <a:off x="10065675" y="3030265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/>
          <p:cNvSpPr txBox="1"/>
          <p:nvPr/>
        </p:nvSpPr>
        <p:spPr>
          <a:xfrm>
            <a:off x="10230588" y="2967997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22588" y="2910601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522588" y="3291601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89198" y="1999132"/>
            <a:ext cx="920445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Pass 4 :</a:t>
            </a:r>
            <a:endParaRPr lang="en-US" b="1" dirty="0"/>
          </a:p>
        </p:txBody>
      </p:sp>
      <p:cxnSp>
        <p:nvCxnSpPr>
          <p:cNvPr id="95" name="Straight Connector 94"/>
          <p:cNvCxnSpPr/>
          <p:nvPr/>
        </p:nvCxnSpPr>
        <p:spPr>
          <a:xfrm flipV="1">
            <a:off x="10689198" y="1999132"/>
            <a:ext cx="0" cy="2702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Freeform 95"/>
          <p:cNvSpPr/>
          <p:nvPr/>
        </p:nvSpPr>
        <p:spPr>
          <a:xfrm>
            <a:off x="11596235" y="2690260"/>
            <a:ext cx="272955" cy="450376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11809370" y="2625111"/>
            <a:ext cx="461665" cy="5652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b="1" dirty="0"/>
              <a:t>swap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1062834" y="2532532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062834" y="2913532"/>
            <a:ext cx="5334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cxnSp>
        <p:nvCxnSpPr>
          <p:cNvPr id="100" name="Straight Connector 99"/>
          <p:cNvCxnSpPr/>
          <p:nvPr/>
        </p:nvCxnSpPr>
        <p:spPr>
          <a:xfrm flipV="1">
            <a:off x="4671412" y="1999132"/>
            <a:ext cx="0" cy="2702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13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DDDDD"/>
                                      </p:to>
                                    </p:animClr>
                                    <p:set>
                                      <p:cBhvr>
                                        <p:cTn id="36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DDDDD"/>
                                      </p:to>
                                    </p:animClr>
                                    <p:set>
                                      <p:cBhvr>
                                        <p:cTn id="40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4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1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78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96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1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00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4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38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79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183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01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2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05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39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0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2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43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4" dur="1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3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84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5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7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288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9" dur="1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1" dur="1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22" dur="1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3" dur="1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26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67" dur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1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0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8D8D8"/>
                                      </p:to>
                                    </p:animClr>
                                    <p:set>
                                      <p:cBhvr>
                                        <p:cTn id="371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2" dur="1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" grpId="0" animBg="1"/>
      <p:bldP spid="29" grpId="0" animBg="1"/>
      <p:bldP spid="30" grpId="0" animBg="1"/>
      <p:bldP spid="33" grpId="0" animBg="1"/>
      <p:bldP spid="36" grpId="0" animBg="1"/>
      <p:bldP spid="37" grpId="0" animBg="1"/>
      <p:bldP spid="43" grpId="0" animBg="1"/>
      <p:bldP spid="45" grpId="0" animBg="1"/>
      <p:bldP spid="46" grpId="0" animBg="1"/>
      <p:bldP spid="40" grpId="0" animBg="1"/>
      <p:bldP spid="41" grpId="0" animBg="1"/>
      <p:bldP spid="42" grpId="0" animBg="1"/>
      <p:bldP spid="47" grpId="0" animBg="1"/>
      <p:bldP spid="48" grpId="0" animBg="1"/>
      <p:bldP spid="49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8" grpId="0" animBg="1"/>
      <p:bldP spid="69" grpId="0" animBg="1"/>
      <p:bldP spid="70" grpId="0" animBg="1"/>
      <p:bldP spid="72" grpId="0" animBg="1"/>
      <p:bldP spid="73" grpId="0" animBg="1"/>
      <p:bldP spid="74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8" grpId="0" animBg="1"/>
      <p:bldP spid="89" grpId="0" animBg="1"/>
      <p:bldP spid="90" grpId="0" animBg="1"/>
      <p:bldP spid="92" grpId="0" animBg="1"/>
      <p:bldP spid="93" grpId="0" animBg="1"/>
      <p:bldP spid="94" grpId="0" animBg="1"/>
      <p:bldP spid="96" grpId="0" animBg="1"/>
      <p:bldP spid="98" grpId="0" animBg="1"/>
      <p:bldP spid="9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BUBBLE_SORT(K,N)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</a:t>
            </a:r>
            <a:r>
              <a:rPr lang="en-US" b="1" dirty="0"/>
              <a:t>vector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K</a:t>
            </a:r>
            <a:r>
              <a:rPr lang="en-US" dirty="0"/>
              <a:t> of </a:t>
            </a:r>
            <a:r>
              <a:rPr lang="en-US" b="1" dirty="0">
                <a:solidFill>
                  <a:srgbClr val="C00000"/>
                </a:solidFill>
              </a:rPr>
              <a:t>N</a:t>
            </a:r>
            <a:r>
              <a:rPr lang="en-US" dirty="0"/>
              <a:t> elements.</a:t>
            </a:r>
          </a:p>
          <a:p>
            <a:r>
              <a:rPr lang="en-US" dirty="0"/>
              <a:t>This procedure </a:t>
            </a:r>
            <a:r>
              <a:rPr lang="en-US" b="1" dirty="0">
                <a:solidFill>
                  <a:srgbClr val="C00000"/>
                </a:solidFill>
              </a:rPr>
              <a:t>rearrange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vector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 </a:t>
            </a:r>
            <a:r>
              <a:rPr lang="en-US" b="1" dirty="0">
                <a:solidFill>
                  <a:srgbClr val="C00000"/>
                </a:solidFill>
              </a:rPr>
              <a:t>ascending order</a:t>
            </a:r>
            <a:r>
              <a:rPr lang="en-US" dirty="0"/>
              <a:t> using </a:t>
            </a:r>
            <a:r>
              <a:rPr lang="en-US" b="1" dirty="0">
                <a:solidFill>
                  <a:srgbClr val="C00000"/>
                </a:solidFill>
              </a:rPr>
              <a:t>Bubble Sort</a:t>
            </a:r>
            <a:r>
              <a:rPr lang="en-US" b="1" dirty="0"/>
              <a:t>.</a:t>
            </a:r>
          </a:p>
          <a:p>
            <a:r>
              <a:rPr lang="en-US" dirty="0"/>
              <a:t>The variable </a:t>
            </a:r>
            <a:r>
              <a:rPr lang="en-US" b="1" dirty="0">
                <a:solidFill>
                  <a:srgbClr val="C00000"/>
                </a:solidFill>
              </a:rPr>
              <a:t>i &amp; LAST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denotes the </a:t>
            </a:r>
            <a:r>
              <a:rPr lang="en-US" b="1" dirty="0">
                <a:solidFill>
                  <a:srgbClr val="C00000"/>
                </a:solidFill>
              </a:rPr>
              <a:t>pass index</a:t>
            </a:r>
            <a:r>
              <a:rPr lang="en-US" dirty="0"/>
              <a:t> and position of the first element in the vector.</a:t>
            </a:r>
          </a:p>
          <a:p>
            <a:r>
              <a:rPr lang="en-US" dirty="0"/>
              <a:t>The variable </a:t>
            </a:r>
            <a:r>
              <a:rPr lang="en-US" b="1" dirty="0">
                <a:solidFill>
                  <a:srgbClr val="C00000"/>
                </a:solidFill>
              </a:rPr>
              <a:t>j</a:t>
            </a:r>
            <a:r>
              <a:rPr lang="en-US" dirty="0"/>
              <a:t> is used to index elements.</a:t>
            </a:r>
          </a:p>
          <a:p>
            <a:r>
              <a:rPr lang="en-US" dirty="0"/>
              <a:t>The variable </a:t>
            </a:r>
            <a:r>
              <a:rPr lang="en-US" b="1" dirty="0">
                <a:solidFill>
                  <a:srgbClr val="C00000"/>
                </a:solidFill>
              </a:rPr>
              <a:t>EXCHS </a:t>
            </a:r>
            <a:r>
              <a:rPr lang="en-US" dirty="0"/>
              <a:t>is used to count number of exchanges made on any pass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04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Procedure: BUBBLE_SORT (K,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610" y="830390"/>
            <a:ext cx="9213334" cy="53245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[Initialize]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</a:rPr>
              <a:t>   LAST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 N-1</a:t>
            </a:r>
            <a:endParaRPr lang="en-IN" sz="2000" dirty="0">
              <a:latin typeface="Consolas" pitchFamily="49" charset="0"/>
              <a:cs typeface="Consolas" pitchFamily="49" charset="0"/>
            </a:endParaRPr>
          </a:p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[Loop on pass index]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</a:rPr>
              <a:t>   Repeat thru step 5 for i = 0, 1, 2, ….  , N-2</a:t>
            </a:r>
          </a:p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[Initialize exchange counter for this pass]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</a:rPr>
              <a:t>   EXCHS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 0</a:t>
            </a:r>
            <a:endParaRPr lang="en-IN" sz="2000" dirty="0">
              <a:latin typeface="Consolas" pitchFamily="49" charset="0"/>
              <a:cs typeface="Consolas" pitchFamily="49" charset="0"/>
            </a:endParaRPr>
          </a:p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[Perform pairwise comparisons on unsorted elements]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</a:rPr>
              <a:t>   Repeat for j = 0, 1, 2, ……….., LAST – 1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IF 	K[j] &gt; K [j+1]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Then 	K[j]  K[j+1]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		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EXCHS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EXCHS + 1</a:t>
            </a:r>
            <a:endParaRPr lang="en-IN" sz="2000" dirty="0">
              <a:latin typeface="Consolas" pitchFamily="49" charset="0"/>
              <a:cs typeface="Consolas" pitchFamily="49" charset="0"/>
              <a:sym typeface="Wingdings" panose="05000000000000000000" pitchFamily="2" charset="2"/>
            </a:endParaRPr>
          </a:p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[Any exchange made in this pass?]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</a:rPr>
              <a:t>   IF	  EXCHS = 0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</a:rPr>
              <a:t>   Then  Return (Vector is sorted, early return)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</a:rPr>
              <a:t>   ELSE  LAST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 LAST - 1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	</a:t>
            </a:r>
          </a:p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[Finished]</a:t>
            </a:r>
          </a:p>
          <a:p>
            <a:r>
              <a:rPr lang="en-IN" sz="2000" dirty="0">
                <a:latin typeface="Consolas" pitchFamily="49" charset="0"/>
                <a:cs typeface="Consolas" pitchFamily="49" charset="0"/>
              </a:rPr>
              <a:t>   Return</a:t>
            </a:r>
          </a:p>
        </p:txBody>
      </p:sp>
    </p:spTree>
    <p:extLst>
      <p:ext uri="{BB962C8B-B14F-4D97-AF65-F5344CB8AC3E}">
        <p14:creationId xmlns:p14="http://schemas.microsoft.com/office/powerpoint/2010/main" val="3389066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2499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Insertion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C8CE1-40A6-AFDE-378B-B57C7C2EB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In insertion sort, </a:t>
            </a:r>
            <a:r>
              <a:rPr lang="en-IN" sz="2400" b="1" dirty="0"/>
              <a:t>every iteration moves</a:t>
            </a:r>
            <a:r>
              <a:rPr lang="en-IN" sz="2400" dirty="0"/>
              <a:t> an </a:t>
            </a:r>
            <a:r>
              <a:rPr lang="en-IN" sz="2400" b="1" dirty="0"/>
              <a:t>element</a:t>
            </a:r>
            <a:r>
              <a:rPr lang="en-IN" sz="2400" dirty="0"/>
              <a:t> from </a:t>
            </a:r>
            <a:r>
              <a:rPr lang="en-IN" sz="2400" b="1" dirty="0"/>
              <a:t>unsorted portion</a:t>
            </a:r>
            <a:r>
              <a:rPr lang="en-IN" sz="2400" dirty="0"/>
              <a:t> to </a:t>
            </a:r>
            <a:r>
              <a:rPr lang="en-IN" sz="2400" b="1" dirty="0"/>
              <a:t>sorted portion</a:t>
            </a:r>
            <a:r>
              <a:rPr lang="en-IN" sz="2400" dirty="0"/>
              <a:t> until all the elements are sorted in the list.</a:t>
            </a:r>
          </a:p>
          <a:p>
            <a:endParaRPr lang="en-IN" dirty="0"/>
          </a:p>
          <a:p>
            <a:endParaRPr lang="en-IN" sz="2400" dirty="0"/>
          </a:p>
          <a:p>
            <a:endParaRPr lang="en-IN" dirty="0"/>
          </a:p>
          <a:p>
            <a:endParaRPr lang="en-IN" sz="2400" dirty="0"/>
          </a:p>
          <a:p>
            <a:endParaRPr lang="en-IN" dirty="0"/>
          </a:p>
          <a:p>
            <a:endParaRPr lang="en-IN" sz="2400" dirty="0"/>
          </a:p>
          <a:p>
            <a:endParaRPr lang="en-IN" sz="2400" dirty="0"/>
          </a:p>
          <a:p>
            <a:endParaRPr lang="en-IN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98611" y="1761566"/>
            <a:ext cx="11998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33082" y="1976720"/>
            <a:ext cx="1172583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sz="2400" b="1" dirty="0"/>
              <a:t>Steps for Insertion Sort</a:t>
            </a:r>
            <a:endParaRPr lang="en-US" sz="2400" b="1" dirty="0"/>
          </a:p>
        </p:txBody>
      </p:sp>
      <p:sp>
        <p:nvSpPr>
          <p:cNvPr id="8" name="Rectangle 7"/>
          <p:cNvSpPr/>
          <p:nvPr/>
        </p:nvSpPr>
        <p:spPr>
          <a:xfrm>
            <a:off x="233082" y="2451078"/>
            <a:ext cx="533907" cy="8357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</a:t>
            </a:r>
            <a:endParaRPr lang="en-US" sz="2400" b="1" dirty="0"/>
          </a:p>
        </p:txBody>
      </p:sp>
      <p:sp>
        <p:nvSpPr>
          <p:cNvPr id="9" name="Rectangle 8"/>
          <p:cNvSpPr/>
          <p:nvPr/>
        </p:nvSpPr>
        <p:spPr>
          <a:xfrm>
            <a:off x="766989" y="2451078"/>
            <a:ext cx="11191929" cy="83099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IN" sz="2400" dirty="0"/>
              <a:t>Assume that </a:t>
            </a:r>
            <a:r>
              <a:rPr lang="en-IN" sz="2400" b="1" dirty="0">
                <a:solidFill>
                  <a:srgbClr val="C00000"/>
                </a:solidFill>
              </a:rPr>
              <a:t>first element</a:t>
            </a:r>
            <a:r>
              <a:rPr lang="en-IN" sz="2400" dirty="0"/>
              <a:t> in the list is in </a:t>
            </a:r>
            <a:r>
              <a:rPr lang="en-IN" sz="2400" b="1" dirty="0">
                <a:solidFill>
                  <a:srgbClr val="C00000"/>
                </a:solidFill>
              </a:rPr>
              <a:t>sorted portion</a:t>
            </a:r>
            <a:r>
              <a:rPr lang="en-IN" sz="2400" dirty="0"/>
              <a:t> of the list and </a:t>
            </a:r>
            <a:r>
              <a:rPr lang="en-IN" sz="2400" b="1" dirty="0">
                <a:solidFill>
                  <a:srgbClr val="C00000"/>
                </a:solidFill>
              </a:rPr>
              <a:t>remaining all elements </a:t>
            </a:r>
            <a:r>
              <a:rPr lang="en-IN" sz="2400" dirty="0"/>
              <a:t>are in </a:t>
            </a:r>
            <a:r>
              <a:rPr lang="en-IN" sz="2400" b="1" dirty="0">
                <a:solidFill>
                  <a:srgbClr val="C00000"/>
                </a:solidFill>
              </a:rPr>
              <a:t>unsorted portion</a:t>
            </a:r>
            <a:r>
              <a:rPr lang="en-IN" sz="2400" dirty="0"/>
              <a:t>.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233081" y="3294768"/>
            <a:ext cx="533907" cy="8357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11" name="Rectangle 10"/>
          <p:cNvSpPr/>
          <p:nvPr/>
        </p:nvSpPr>
        <p:spPr>
          <a:xfrm>
            <a:off x="766988" y="3294768"/>
            <a:ext cx="11191929" cy="83099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IN" sz="2400" dirty="0"/>
              <a:t>Select </a:t>
            </a:r>
            <a:r>
              <a:rPr lang="en-IN" sz="2400" b="1" dirty="0">
                <a:solidFill>
                  <a:srgbClr val="C00000"/>
                </a:solidFill>
              </a:rPr>
              <a:t>first element</a:t>
            </a:r>
            <a:r>
              <a:rPr lang="en-IN" sz="2400" dirty="0"/>
              <a:t> from the </a:t>
            </a:r>
            <a:r>
              <a:rPr lang="en-IN" sz="2400" b="1" dirty="0">
                <a:solidFill>
                  <a:srgbClr val="C00000"/>
                </a:solidFill>
              </a:rPr>
              <a:t>unsorted list</a:t>
            </a:r>
            <a:r>
              <a:rPr lang="en-IN" sz="2400" dirty="0"/>
              <a:t> and </a:t>
            </a:r>
            <a:r>
              <a:rPr lang="en-IN" sz="2400" b="1" dirty="0">
                <a:solidFill>
                  <a:srgbClr val="C00000"/>
                </a:solidFill>
              </a:rPr>
              <a:t>insert</a:t>
            </a:r>
            <a:r>
              <a:rPr lang="en-IN" sz="2400" dirty="0"/>
              <a:t> that element </a:t>
            </a:r>
            <a:r>
              <a:rPr lang="en-IN" sz="2400" b="1" dirty="0">
                <a:solidFill>
                  <a:srgbClr val="C00000"/>
                </a:solidFill>
              </a:rPr>
              <a:t>into the sorted </a:t>
            </a:r>
            <a:r>
              <a:rPr lang="en-IN" sz="2400" dirty="0"/>
              <a:t>list in </a:t>
            </a:r>
            <a:r>
              <a:rPr lang="en-IN" sz="2400" b="1" dirty="0">
                <a:solidFill>
                  <a:srgbClr val="C00000"/>
                </a:solidFill>
              </a:rPr>
              <a:t>order specified</a:t>
            </a:r>
            <a:r>
              <a:rPr lang="en-IN" sz="2400" dirty="0"/>
              <a:t>.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233080" y="4125766"/>
            <a:ext cx="533907" cy="8309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</a:t>
            </a:r>
            <a:endParaRPr lang="en-US" sz="2400" b="1" dirty="0"/>
          </a:p>
        </p:txBody>
      </p:sp>
      <p:sp>
        <p:nvSpPr>
          <p:cNvPr id="13" name="Rectangle 12"/>
          <p:cNvSpPr/>
          <p:nvPr/>
        </p:nvSpPr>
        <p:spPr>
          <a:xfrm>
            <a:off x="766987" y="4125765"/>
            <a:ext cx="11191928" cy="83099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IN" sz="2400" b="1" dirty="0">
                <a:solidFill>
                  <a:srgbClr val="C00000"/>
                </a:solidFill>
              </a:rPr>
              <a:t>Repeat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/>
              <a:t>the above process </a:t>
            </a:r>
            <a:r>
              <a:rPr lang="en-IN" sz="2400" b="1" dirty="0">
                <a:solidFill>
                  <a:srgbClr val="C00000"/>
                </a:solidFill>
              </a:rPr>
              <a:t>until all </a:t>
            </a:r>
            <a:r>
              <a:rPr lang="en-IN" sz="2400" dirty="0"/>
              <a:t>the </a:t>
            </a:r>
            <a:r>
              <a:rPr lang="en-IN" sz="2400" b="1" dirty="0">
                <a:solidFill>
                  <a:srgbClr val="C00000"/>
                </a:solidFill>
              </a:rPr>
              <a:t>elements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dirty="0"/>
              <a:t>from the </a:t>
            </a:r>
            <a:r>
              <a:rPr lang="en-IN" sz="2400" b="1" dirty="0">
                <a:solidFill>
                  <a:srgbClr val="C00000"/>
                </a:solidFill>
              </a:rPr>
              <a:t>unsorted list</a:t>
            </a:r>
            <a:r>
              <a:rPr lang="en-IN" sz="2400" dirty="0"/>
              <a:t> are </a:t>
            </a:r>
            <a:r>
              <a:rPr lang="en-IN" sz="2400" b="1" dirty="0">
                <a:solidFill>
                  <a:srgbClr val="C00000"/>
                </a:solidFill>
              </a:rPr>
              <a:t>moved</a:t>
            </a:r>
            <a:r>
              <a:rPr lang="en-IN" sz="2400" dirty="0">
                <a:solidFill>
                  <a:srgbClr val="C00000"/>
                </a:solidFill>
              </a:rPr>
              <a:t> </a:t>
            </a:r>
            <a:r>
              <a:rPr lang="en-IN" sz="2400" b="1" dirty="0">
                <a:solidFill>
                  <a:srgbClr val="C00000"/>
                </a:solidFill>
              </a:rPr>
              <a:t>into</a:t>
            </a:r>
            <a:r>
              <a:rPr lang="en-IN" sz="2400" dirty="0"/>
              <a:t> the </a:t>
            </a:r>
            <a:r>
              <a:rPr lang="en-IN" sz="2400" b="1" dirty="0">
                <a:solidFill>
                  <a:srgbClr val="C00000"/>
                </a:solidFill>
              </a:rPr>
              <a:t>sorted list</a:t>
            </a:r>
            <a:r>
              <a:rPr lang="en-IN" sz="2400" b="1" dirty="0">
                <a:solidFill>
                  <a:schemeClr val="tx1"/>
                </a:solidFill>
              </a:rPr>
              <a:t>.</a:t>
            </a:r>
            <a:endParaRPr lang="en-US" sz="2400" b="1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98611" y="5190567"/>
            <a:ext cx="11998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16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Insertion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C8CE1-40A6-AFDE-378B-B57C7C2EB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Insertion sort is </a:t>
            </a:r>
            <a:r>
              <a:rPr lang="en-IN" b="1" dirty="0">
                <a:solidFill>
                  <a:srgbClr val="C00000"/>
                </a:solidFill>
              </a:rPr>
              <a:t>efficient</a:t>
            </a:r>
            <a:r>
              <a:rPr lang="en-IN" sz="2400" dirty="0"/>
              <a:t> sorting algorithm for </a:t>
            </a:r>
            <a:r>
              <a:rPr lang="en-IN" b="1" dirty="0">
                <a:solidFill>
                  <a:srgbClr val="C00000"/>
                </a:solidFill>
              </a:rPr>
              <a:t>smaller list </a:t>
            </a:r>
            <a:r>
              <a:rPr lang="en-IN" sz="2400" dirty="0"/>
              <a:t>and </a:t>
            </a:r>
            <a:r>
              <a:rPr lang="en-IN" b="1" dirty="0">
                <a:solidFill>
                  <a:srgbClr val="C00000"/>
                </a:solidFill>
              </a:rPr>
              <a:t>nearly</a:t>
            </a:r>
            <a:r>
              <a:rPr lang="en-IN" sz="2400" dirty="0"/>
              <a:t> </a:t>
            </a:r>
            <a:r>
              <a:rPr lang="en-IN" b="1" dirty="0">
                <a:solidFill>
                  <a:srgbClr val="C00000"/>
                </a:solidFill>
              </a:rPr>
              <a:t>sorted</a:t>
            </a:r>
            <a:r>
              <a:rPr lang="en-IN" sz="2400" dirty="0"/>
              <a:t> list.</a:t>
            </a:r>
          </a:p>
          <a:p>
            <a:r>
              <a:rPr lang="en-IN" dirty="0"/>
              <a:t>This algorithm is </a:t>
            </a:r>
            <a:r>
              <a:rPr lang="en-IN" b="1" dirty="0">
                <a:solidFill>
                  <a:srgbClr val="C00000"/>
                </a:solidFill>
              </a:rPr>
              <a:t>inefficient</a:t>
            </a:r>
            <a:r>
              <a:rPr lang="en-IN" dirty="0"/>
              <a:t> for </a:t>
            </a:r>
            <a:r>
              <a:rPr lang="en-IN" b="1" dirty="0">
                <a:solidFill>
                  <a:srgbClr val="C00000"/>
                </a:solidFill>
              </a:rPr>
              <a:t>large </a:t>
            </a:r>
            <a:r>
              <a:rPr lang="en-IN" dirty="0"/>
              <a:t>data sets.</a:t>
            </a:r>
          </a:p>
          <a:p>
            <a:r>
              <a:rPr lang="en-IN" sz="2400" dirty="0"/>
              <a:t>The </a:t>
            </a:r>
            <a:r>
              <a:rPr lang="en-IN" b="1" dirty="0">
                <a:solidFill>
                  <a:srgbClr val="C00000"/>
                </a:solidFill>
              </a:rPr>
              <a:t>worst case </a:t>
            </a:r>
            <a:r>
              <a:rPr lang="en-IN" sz="2400" dirty="0"/>
              <a:t>time complexity of th</a:t>
            </a:r>
            <a:r>
              <a:rPr lang="en-IN" dirty="0"/>
              <a:t>is algorithm is </a:t>
            </a:r>
            <a:r>
              <a:rPr lang="en-IN" b="1" dirty="0">
                <a:solidFill>
                  <a:srgbClr val="C00000"/>
                </a:solidFill>
              </a:rPr>
              <a:t>O(n</a:t>
            </a:r>
            <a:r>
              <a:rPr lang="en-IN" b="1" baseline="30000" dirty="0">
                <a:solidFill>
                  <a:srgbClr val="C00000"/>
                </a:solidFill>
              </a:rPr>
              <a:t>2</a:t>
            </a:r>
            <a:r>
              <a:rPr lang="en-IN" b="1" dirty="0">
                <a:solidFill>
                  <a:srgbClr val="C00000"/>
                </a:solidFill>
              </a:rPr>
              <a:t>)</a:t>
            </a:r>
            <a:r>
              <a:rPr lang="en-IN" dirty="0"/>
              <a:t>.</a:t>
            </a:r>
          </a:p>
          <a:p>
            <a:r>
              <a:rPr lang="en-IN" sz="2400" dirty="0"/>
              <a:t>If the list already sorted, </a:t>
            </a:r>
            <a:r>
              <a:rPr lang="en-IN" dirty="0"/>
              <a:t>then only n comparisons would be required. So the </a:t>
            </a:r>
            <a:r>
              <a:rPr lang="en-IN" b="1" dirty="0">
                <a:solidFill>
                  <a:srgbClr val="C00000"/>
                </a:solidFill>
              </a:rPr>
              <a:t>best case </a:t>
            </a:r>
            <a:r>
              <a:rPr lang="en-IN" sz="2400" dirty="0"/>
              <a:t>time complexity is </a:t>
            </a:r>
            <a:r>
              <a:rPr lang="en-IN" b="1" dirty="0">
                <a:solidFill>
                  <a:srgbClr val="C00000"/>
                </a:solidFill>
              </a:rPr>
              <a:t>O(n)</a:t>
            </a:r>
            <a:r>
              <a:rPr lang="en-IN" dirty="0"/>
              <a:t>.</a:t>
            </a:r>
          </a:p>
          <a:p>
            <a:r>
              <a:rPr lang="en-US" dirty="0"/>
              <a:t>This is </a:t>
            </a:r>
            <a:r>
              <a:rPr lang="en-US" b="1" dirty="0">
                <a:solidFill>
                  <a:srgbClr val="C00000"/>
                </a:solidFill>
              </a:rPr>
              <a:t>stable sorting algorithm</a:t>
            </a:r>
            <a:r>
              <a:rPr lang="en-US" dirty="0"/>
              <a:t>, as the elements with the same keys maintain their relative order in the sorted output as well.</a:t>
            </a:r>
          </a:p>
          <a:p>
            <a:r>
              <a:rPr lang="en-US" dirty="0"/>
              <a:t>This is </a:t>
            </a:r>
            <a:r>
              <a:rPr lang="en-US" b="1" dirty="0">
                <a:solidFill>
                  <a:srgbClr val="C00000"/>
                </a:solidFill>
              </a:rPr>
              <a:t>in-place algorithm </a:t>
            </a:r>
            <a:r>
              <a:rPr lang="en-US" dirty="0"/>
              <a:t>as it doesn’t require ant extra space to sort the elements.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56752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0471" y="868100"/>
            <a:ext cx="8611564" cy="5541844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: Insertion Sort (A,N)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Clr>
                <a:schemeClr val="tx2"/>
              </a:buClr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i 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  <a:sym typeface="Wingdings" pitchFamily="2" charset="2"/>
              </a:rPr>
              <a:t>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 1 </a:t>
            </a:r>
          </a:p>
          <a:p>
            <a:pPr marL="0" indent="0">
              <a:lnSpc>
                <a:spcPct val="100000"/>
              </a:lnSpc>
              <a:buClr>
                <a:schemeClr val="tx2"/>
              </a:buClr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while i &lt; 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	key 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  <a:sym typeface="Wingdings" pitchFamily="2" charset="2"/>
              </a:rPr>
              <a:t>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 A[i]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	j 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  <a:sym typeface="Wingdings" pitchFamily="2" charset="2"/>
              </a:rPr>
              <a:t> 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i-1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	while j &gt;= 0 and A[j] &gt; key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		A[j+1] 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  <a:sym typeface="Wingdings" pitchFamily="2" charset="2"/>
              </a:rPr>
              <a:t>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 A[j]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		j ← j - 1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	end while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	A[j+1] 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  <a:sym typeface="Wingdings" pitchFamily="2" charset="2"/>
              </a:rPr>
              <a:t> key</a:t>
            </a:r>
            <a:endParaRPr lang="en-US" b="1" dirty="0">
              <a:latin typeface="Consolas" pitchFamily="49" charset="0"/>
              <a:ea typeface="+mj-ea"/>
              <a:cs typeface="Consolas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	i 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  <a:sym typeface="Wingdings" pitchFamily="2" charset="2"/>
              </a:rPr>
              <a:t></a:t>
            </a: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 i + 1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Consolas" pitchFamily="49" charset="0"/>
                <a:ea typeface="+mj-ea"/>
                <a:cs typeface="Consolas" pitchFamily="49" charset="0"/>
              </a:rPr>
              <a:t>end while</a:t>
            </a:r>
          </a:p>
        </p:txBody>
      </p:sp>
    </p:spTree>
    <p:extLst>
      <p:ext uri="{BB962C8B-B14F-4D97-AF65-F5344CB8AC3E}">
        <p14:creationId xmlns:p14="http://schemas.microsoft.com/office/powerpoint/2010/main" val="164021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AB9B65A3-9A4C-3796-DC98-B2F9800AE190}"/>
              </a:ext>
            </a:extLst>
          </p:cNvPr>
          <p:cNvSpPr/>
          <p:nvPr/>
        </p:nvSpPr>
        <p:spPr>
          <a:xfrm>
            <a:off x="5874936" y="5645821"/>
            <a:ext cx="1360365" cy="923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9D58518-21DD-C2BE-86BC-B3356C74CBD9}"/>
              </a:ext>
            </a:extLst>
          </p:cNvPr>
          <p:cNvSpPr/>
          <p:nvPr/>
        </p:nvSpPr>
        <p:spPr>
          <a:xfrm>
            <a:off x="7545980" y="4020278"/>
            <a:ext cx="2952643" cy="25341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F111E64-A825-7845-CCC2-E7A37A8B67F0}"/>
              </a:ext>
            </a:extLst>
          </p:cNvPr>
          <p:cNvSpPr/>
          <p:nvPr/>
        </p:nvSpPr>
        <p:spPr>
          <a:xfrm>
            <a:off x="5841507" y="4020278"/>
            <a:ext cx="1610533" cy="108438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Insertion Sort</a:t>
            </a:r>
          </a:p>
        </p:txBody>
      </p:sp>
      <p:sp>
        <p:nvSpPr>
          <p:cNvPr id="51" name="Content Placeholder 50">
            <a:extLst>
              <a:ext uri="{FF2B5EF4-FFF2-40B4-BE49-F238E27FC236}">
                <a16:creationId xmlns:a16="http://schemas.microsoft.com/office/drawing/2014/main" id="{7FDEE6A0-C8D6-0374-CE0A-CE0921885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073124" y="811308"/>
            <a:ext cx="2045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Unsorted Array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905000" y="2030507"/>
            <a:ext cx="838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05000" y="2030507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1 :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927685" y="2315603"/>
            <a:ext cx="2045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Unsorted Array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1905000" y="3947175"/>
            <a:ext cx="838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05000" y="3947175"/>
            <a:ext cx="89678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2 :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928065" y="4066183"/>
            <a:ext cx="15023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i</a:t>
            </a:r>
            <a:r>
              <a:rPr lang="en-US" b="1" dirty="0"/>
              <a:t>= 1</a:t>
            </a:r>
          </a:p>
          <a:p>
            <a:r>
              <a:rPr lang="en-US" b="1" dirty="0" err="1"/>
              <a:t>i</a:t>
            </a:r>
            <a:r>
              <a:rPr lang="en-US" b="1" dirty="0"/>
              <a:t>&lt;5 </a:t>
            </a:r>
            <a:r>
              <a:rPr lang="en-US" b="1" dirty="0">
                <a:sym typeface="Wingdings" panose="05000000000000000000" pitchFamily="2" charset="2"/>
              </a:rPr>
              <a:t> True</a:t>
            </a:r>
            <a:endParaRPr lang="en-US" b="1" dirty="0"/>
          </a:p>
          <a:p>
            <a:r>
              <a:rPr lang="en-US" b="1" dirty="0"/>
              <a:t>key = A[</a:t>
            </a:r>
            <a:r>
              <a:rPr lang="en-US" b="1" dirty="0" err="1"/>
              <a:t>i</a:t>
            </a:r>
            <a:r>
              <a:rPr lang="en-US" b="1" dirty="0"/>
              <a:t>] = 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7000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7936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1336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4736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8136" y="487231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67000" y="529823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7936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1336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4736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8136" y="530710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3017" y="4020279"/>
            <a:ext cx="259077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 = i-1 = 1-1 = 0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J&gt;=0 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True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>
                <a:solidFill>
                  <a:srgbClr val="C00000"/>
                </a:solidFill>
              </a:rPr>
              <a:t>A[j]&gt;key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29&gt;10  True</a:t>
            </a: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A[1] = A[0]</a:t>
            </a: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J--  j=-1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J = -1</a:t>
            </a:r>
          </a:p>
          <a:p>
            <a:r>
              <a:rPr lang="en-US" b="1" dirty="0">
                <a:solidFill>
                  <a:srgbClr val="C00000"/>
                </a:solidFill>
              </a:rPr>
              <a:t>J&gt;=0 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False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64E3E7-83C6-5898-5539-60A6F03DE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399617"/>
              </p:ext>
            </p:extLst>
          </p:nvPr>
        </p:nvGraphicFramePr>
        <p:xfrm>
          <a:off x="4215914" y="1349981"/>
          <a:ext cx="36576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1647745834"/>
                    </a:ext>
                  </a:extLst>
                </a:gridCol>
                <a:gridCol w="715135">
                  <a:extLst>
                    <a:ext uri="{9D8B030D-6E8A-4147-A177-3AD203B41FA5}">
                      <a16:colId xmlns:a16="http://schemas.microsoft.com/office/drawing/2014/main" val="2961237545"/>
                    </a:ext>
                  </a:extLst>
                </a:gridCol>
                <a:gridCol w="747905">
                  <a:extLst>
                    <a:ext uri="{9D8B030D-6E8A-4147-A177-3AD203B41FA5}">
                      <a16:colId xmlns:a16="http://schemas.microsoft.com/office/drawing/2014/main" val="29557849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0601110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84061577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0778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A78E860-7BB6-3A65-723F-DA14A03D6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570563"/>
              </p:ext>
            </p:extLst>
          </p:nvPr>
        </p:nvGraphicFramePr>
        <p:xfrm>
          <a:off x="2023528" y="2797355"/>
          <a:ext cx="36576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164774583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6123754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557849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0601110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84061577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0778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27C00CD-BC36-8771-70AB-513F458E0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409750"/>
              </p:ext>
            </p:extLst>
          </p:nvPr>
        </p:nvGraphicFramePr>
        <p:xfrm>
          <a:off x="2025004" y="3331497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164774583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6123754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557849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0601110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84061577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307787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240A184B-208A-8540-6605-52348D101237}"/>
              </a:ext>
            </a:extLst>
          </p:cNvPr>
          <p:cNvSpPr/>
          <p:nvPr/>
        </p:nvSpPr>
        <p:spPr>
          <a:xfrm>
            <a:off x="3207936" y="4883932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0B9DD9-7F85-1A23-D2A0-F3575256A1A0}"/>
              </a:ext>
            </a:extLst>
          </p:cNvPr>
          <p:cNvSpPr txBox="1"/>
          <p:nvPr/>
        </p:nvSpPr>
        <p:spPr>
          <a:xfrm>
            <a:off x="5906424" y="5645821"/>
            <a:ext cx="15456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A[j+1] = key</a:t>
            </a:r>
          </a:p>
          <a:p>
            <a:r>
              <a:rPr lang="en-US" dirty="0"/>
              <a:t>A[-1+1] = 10 </a:t>
            </a:r>
          </a:p>
          <a:p>
            <a:r>
              <a:rPr lang="en-US" b="1" dirty="0">
                <a:solidFill>
                  <a:srgbClr val="C00000"/>
                </a:solidFill>
              </a:rPr>
              <a:t>A[0] = 10         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766E91D-5827-8029-3530-1ED4730EBB31}"/>
              </a:ext>
            </a:extLst>
          </p:cNvPr>
          <p:cNvSpPr/>
          <p:nvPr/>
        </p:nvSpPr>
        <p:spPr>
          <a:xfrm>
            <a:off x="2670768" y="4877196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10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B304F17-F9E4-CD5E-5EA5-AECEFE4B372A}"/>
              </a:ext>
            </a:extLst>
          </p:cNvPr>
          <p:cNvCxnSpPr/>
          <p:nvPr/>
        </p:nvCxnSpPr>
        <p:spPr>
          <a:xfrm flipV="1">
            <a:off x="7741296" y="4445319"/>
            <a:ext cx="2653219" cy="738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FFF23DC-6C74-8BAF-6D31-08B16F9B3F9D}"/>
              </a:ext>
            </a:extLst>
          </p:cNvPr>
          <p:cNvCxnSpPr/>
          <p:nvPr/>
        </p:nvCxnSpPr>
        <p:spPr>
          <a:xfrm flipV="1">
            <a:off x="7676443" y="5811607"/>
            <a:ext cx="2653219" cy="738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A3CF236-D59D-2509-7363-9C5944D51465}"/>
              </a:ext>
            </a:extLst>
          </p:cNvPr>
          <p:cNvSpPr txBox="1"/>
          <p:nvPr/>
        </p:nvSpPr>
        <p:spPr>
          <a:xfrm>
            <a:off x="8025205" y="2581835"/>
            <a:ext cx="14092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N = 5</a:t>
            </a:r>
          </a:p>
        </p:txBody>
      </p:sp>
    </p:spTree>
    <p:extLst>
      <p:ext uri="{BB962C8B-B14F-4D97-AF65-F5344CB8AC3E}">
        <p14:creationId xmlns:p14="http://schemas.microsoft.com/office/powerpoint/2010/main" val="3144786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5" grpId="0" animBg="1"/>
      <p:bldP spid="44" grpId="0" animBg="1"/>
      <p:bldP spid="5" grpId="0"/>
      <p:bldP spid="7" grpId="0" animBg="1"/>
      <p:bldP spid="9" grpId="0"/>
      <p:bldP spid="12" grpId="0" animBg="1"/>
      <p:bldP spid="16" grpId="0"/>
      <p:bldP spid="19" grpId="0" animBg="1"/>
      <p:bldP spid="19" grpId="1" animBg="1"/>
      <p:bldP spid="20" grpId="0" animBg="1"/>
      <p:bldP spid="20" grpId="1" animBg="1"/>
      <p:bldP spid="21" grpId="0" animBg="1"/>
      <p:bldP spid="22" grpId="0" animBg="1"/>
      <p:bldP spid="23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15" grpId="0" animBg="1"/>
      <p:bldP spid="43" grpId="0" animBg="1"/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AB9B65A3-9A4C-3796-DC98-B2F9800AE190}"/>
              </a:ext>
            </a:extLst>
          </p:cNvPr>
          <p:cNvSpPr/>
          <p:nvPr/>
        </p:nvSpPr>
        <p:spPr>
          <a:xfrm>
            <a:off x="5957242" y="4764777"/>
            <a:ext cx="1360365" cy="923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9D58518-21DD-C2BE-86BC-B3356C74CBD9}"/>
              </a:ext>
            </a:extLst>
          </p:cNvPr>
          <p:cNvSpPr/>
          <p:nvPr/>
        </p:nvSpPr>
        <p:spPr>
          <a:xfrm>
            <a:off x="7537256" y="1431816"/>
            <a:ext cx="2908714" cy="27939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F111E64-A825-7845-CCC2-E7A37A8B67F0}"/>
              </a:ext>
            </a:extLst>
          </p:cNvPr>
          <p:cNvSpPr/>
          <p:nvPr/>
        </p:nvSpPr>
        <p:spPr>
          <a:xfrm>
            <a:off x="5861231" y="1378549"/>
            <a:ext cx="1610533" cy="104795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Insertion Sort</a:t>
            </a:r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>
          <a:xfrm flipV="1">
            <a:off x="1819763" y="1038386"/>
            <a:ext cx="8796576" cy="648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96515" y="1110442"/>
            <a:ext cx="88998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3 :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949706" y="1431817"/>
            <a:ext cx="15023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i</a:t>
            </a:r>
            <a:r>
              <a:rPr lang="en-US" b="1" dirty="0"/>
              <a:t>= 2</a:t>
            </a:r>
          </a:p>
          <a:p>
            <a:r>
              <a:rPr lang="en-US" b="1" dirty="0" err="1"/>
              <a:t>i</a:t>
            </a:r>
            <a:r>
              <a:rPr lang="en-US" b="1" dirty="0"/>
              <a:t>&lt;5 </a:t>
            </a:r>
            <a:r>
              <a:rPr lang="en-US" b="1" dirty="0">
                <a:sym typeface="Wingdings" panose="05000000000000000000" pitchFamily="2" charset="2"/>
              </a:rPr>
              <a:t> True</a:t>
            </a:r>
            <a:endParaRPr lang="en-US" b="1" dirty="0"/>
          </a:p>
          <a:p>
            <a:r>
              <a:rPr lang="en-US" b="1" dirty="0"/>
              <a:t>key = A[</a:t>
            </a:r>
            <a:r>
              <a:rPr lang="en-US" b="1" dirty="0" err="1"/>
              <a:t>i</a:t>
            </a:r>
            <a:r>
              <a:rPr lang="en-US" b="1" dirty="0"/>
              <a:t>] = 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35267" y="243418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71683" y="243418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5084" y="243229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8921" y="243040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94340" y="243040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19088" y="29195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77771" y="291576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88368" y="29108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47588" y="29195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06808" y="29282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8240" y="1520597"/>
            <a:ext cx="265649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J = i-1 = 2-1 = 1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J&gt;=0 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True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>
                <a:solidFill>
                  <a:srgbClr val="C00000"/>
                </a:solidFill>
              </a:rPr>
              <a:t>A[j]&gt;key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29&gt;14  True</a:t>
            </a: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A[2] = A[1]</a:t>
            </a: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J--  j=0</a:t>
            </a:r>
          </a:p>
          <a:p>
            <a:endParaRPr lang="en-US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C00000"/>
                </a:solidFill>
              </a:rPr>
              <a:t>J&gt;=0 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True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>
                <a:solidFill>
                  <a:srgbClr val="C00000"/>
                </a:solidFill>
              </a:rPr>
              <a:t>A[j]&gt;key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10&gt;14  False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0B9DD9-7F85-1A23-D2A0-F3575256A1A0}"/>
              </a:ext>
            </a:extLst>
          </p:cNvPr>
          <p:cNvSpPr txBox="1"/>
          <p:nvPr/>
        </p:nvSpPr>
        <p:spPr>
          <a:xfrm>
            <a:off x="5991640" y="4781411"/>
            <a:ext cx="15456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A[j+1] = key</a:t>
            </a:r>
          </a:p>
          <a:p>
            <a:r>
              <a:rPr lang="en-US" dirty="0"/>
              <a:t>A[0+1] = 14 </a:t>
            </a:r>
          </a:p>
          <a:p>
            <a:r>
              <a:rPr lang="en-US" b="1" dirty="0">
                <a:solidFill>
                  <a:srgbClr val="C00000"/>
                </a:solidFill>
              </a:rPr>
              <a:t>A[1] = 14      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875BCA-F959-3384-BF06-0089FB2CFE4F}"/>
              </a:ext>
            </a:extLst>
          </p:cNvPr>
          <p:cNvSpPr/>
          <p:nvPr/>
        </p:nvSpPr>
        <p:spPr>
          <a:xfrm>
            <a:off x="3061578" y="2426499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29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A7E587-89DF-E440-92CE-11D650EEA686}"/>
              </a:ext>
            </a:extLst>
          </p:cNvPr>
          <p:cNvCxnSpPr>
            <a:cxnSpLocks/>
          </p:cNvCxnSpPr>
          <p:nvPr/>
        </p:nvCxnSpPr>
        <p:spPr>
          <a:xfrm flipV="1">
            <a:off x="7652217" y="3367055"/>
            <a:ext cx="2653219" cy="738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D1DAC01-84B9-B9ED-121A-203FD83506D8}"/>
              </a:ext>
            </a:extLst>
          </p:cNvPr>
          <p:cNvSpPr/>
          <p:nvPr/>
        </p:nvSpPr>
        <p:spPr>
          <a:xfrm>
            <a:off x="2540604" y="2429253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C6BB38-F441-C1A8-FB2C-A793934B5DB6}"/>
              </a:ext>
            </a:extLst>
          </p:cNvPr>
          <p:cNvCxnSpPr>
            <a:cxnSpLocks/>
          </p:cNvCxnSpPr>
          <p:nvPr/>
        </p:nvCxnSpPr>
        <p:spPr>
          <a:xfrm flipV="1">
            <a:off x="7652217" y="1930879"/>
            <a:ext cx="2653219" cy="738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04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5" grpId="0" animBg="1"/>
      <p:bldP spid="44" grpId="0" animBg="1"/>
      <p:bldP spid="12" grpId="0" animBg="1"/>
      <p:bldP spid="19" grpId="0" animBg="1"/>
      <p:bldP spid="19" grpId="1" animBg="1"/>
      <p:bldP spid="20" grpId="0" animBg="1"/>
      <p:bldP spid="20" grpId="1" animBg="1"/>
      <p:bldP spid="21" grpId="0" animBg="1"/>
      <p:bldP spid="22" grpId="0" animBg="1"/>
      <p:bldP spid="23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4" grpId="0" animBg="1"/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AB9B65A3-9A4C-3796-DC98-B2F9800AE190}"/>
              </a:ext>
            </a:extLst>
          </p:cNvPr>
          <p:cNvSpPr/>
          <p:nvPr/>
        </p:nvSpPr>
        <p:spPr>
          <a:xfrm>
            <a:off x="6185777" y="4646123"/>
            <a:ext cx="1360365" cy="923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9D58518-21DD-C2BE-86BC-B3356C74CBD9}"/>
              </a:ext>
            </a:extLst>
          </p:cNvPr>
          <p:cNvSpPr/>
          <p:nvPr/>
        </p:nvSpPr>
        <p:spPr>
          <a:xfrm>
            <a:off x="7504441" y="2705462"/>
            <a:ext cx="2908714" cy="14470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F111E64-A825-7845-CCC2-E7A37A8B67F0}"/>
              </a:ext>
            </a:extLst>
          </p:cNvPr>
          <p:cNvSpPr/>
          <p:nvPr/>
        </p:nvSpPr>
        <p:spPr>
          <a:xfrm>
            <a:off x="5861231" y="1378548"/>
            <a:ext cx="1610533" cy="10537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Insertion Sort</a:t>
            </a:r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>
          <a:xfrm flipV="1">
            <a:off x="1819763" y="1038386"/>
            <a:ext cx="8796576" cy="648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96515" y="1110442"/>
            <a:ext cx="88998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4 :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949706" y="1431817"/>
            <a:ext cx="15023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i</a:t>
            </a:r>
            <a:r>
              <a:rPr lang="en-US" b="1" dirty="0"/>
              <a:t>= 3</a:t>
            </a:r>
          </a:p>
          <a:p>
            <a:r>
              <a:rPr lang="en-US" b="1" dirty="0" err="1"/>
              <a:t>i</a:t>
            </a:r>
            <a:r>
              <a:rPr lang="en-US" b="1" dirty="0"/>
              <a:t>&lt;5 </a:t>
            </a:r>
            <a:r>
              <a:rPr lang="en-US" b="1" dirty="0">
                <a:sym typeface="Wingdings" panose="05000000000000000000" pitchFamily="2" charset="2"/>
              </a:rPr>
              <a:t> True</a:t>
            </a:r>
            <a:endParaRPr lang="en-US" b="1" dirty="0"/>
          </a:p>
          <a:p>
            <a:r>
              <a:rPr lang="en-US" b="1" dirty="0"/>
              <a:t>key = A[</a:t>
            </a:r>
            <a:r>
              <a:rPr lang="en-US" b="1" dirty="0" err="1"/>
              <a:t>i</a:t>
            </a:r>
            <a:r>
              <a:rPr lang="en-US" b="1" dirty="0"/>
              <a:t>] = 37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35267" y="2425473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71683" y="2425473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5084" y="243229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8921" y="243040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94340" y="2430401"/>
            <a:ext cx="548640" cy="4484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19088" y="29195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77771" y="291576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88368" y="29108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47588" y="29195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06808" y="29282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4531" y="2783340"/>
            <a:ext cx="265649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J = i-1 = 3-1 = 2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J&gt;=0 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True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>
                <a:solidFill>
                  <a:srgbClr val="C00000"/>
                </a:solidFill>
              </a:rPr>
              <a:t>A[j]&gt;key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29&gt;37  False</a:t>
            </a:r>
          </a:p>
          <a:p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0B9DD9-7F85-1A23-D2A0-F3575256A1A0}"/>
              </a:ext>
            </a:extLst>
          </p:cNvPr>
          <p:cNvSpPr txBox="1"/>
          <p:nvPr/>
        </p:nvSpPr>
        <p:spPr>
          <a:xfrm>
            <a:off x="6252894" y="4662241"/>
            <a:ext cx="15456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A[j+1] = key</a:t>
            </a:r>
          </a:p>
          <a:p>
            <a:r>
              <a:rPr lang="en-US" dirty="0"/>
              <a:t>A[2+1] = 37 </a:t>
            </a:r>
          </a:p>
          <a:p>
            <a:r>
              <a:rPr lang="en-US" b="1" dirty="0">
                <a:solidFill>
                  <a:srgbClr val="C00000"/>
                </a:solidFill>
              </a:rPr>
              <a:t>A[3] = 37          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C6BB38-F441-C1A8-FB2C-A793934B5DB6}"/>
              </a:ext>
            </a:extLst>
          </p:cNvPr>
          <p:cNvCxnSpPr>
            <a:cxnSpLocks/>
          </p:cNvCxnSpPr>
          <p:nvPr/>
        </p:nvCxnSpPr>
        <p:spPr>
          <a:xfrm flipV="1">
            <a:off x="7637808" y="3184913"/>
            <a:ext cx="2653219" cy="738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011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5" grpId="0" animBg="1"/>
      <p:bldP spid="44" grpId="0" animBg="1"/>
      <p:bldP spid="12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AB9B65A3-9A4C-3796-DC98-B2F9800AE190}"/>
              </a:ext>
            </a:extLst>
          </p:cNvPr>
          <p:cNvSpPr/>
          <p:nvPr/>
        </p:nvSpPr>
        <p:spPr>
          <a:xfrm>
            <a:off x="5371317" y="4764777"/>
            <a:ext cx="1360365" cy="923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9D58518-21DD-C2BE-86BC-B3356C74CBD9}"/>
              </a:ext>
            </a:extLst>
          </p:cNvPr>
          <p:cNvSpPr/>
          <p:nvPr/>
        </p:nvSpPr>
        <p:spPr>
          <a:xfrm>
            <a:off x="7075617" y="1103341"/>
            <a:ext cx="2908714" cy="53908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F111E64-A825-7845-CCC2-E7A37A8B67F0}"/>
              </a:ext>
            </a:extLst>
          </p:cNvPr>
          <p:cNvSpPr/>
          <p:nvPr/>
        </p:nvSpPr>
        <p:spPr>
          <a:xfrm>
            <a:off x="5239792" y="1378549"/>
            <a:ext cx="1610533" cy="104795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Insertion Sort</a:t>
            </a:r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>
          <a:xfrm flipV="1">
            <a:off x="1819763" y="1038386"/>
            <a:ext cx="8796576" cy="648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96515" y="1110442"/>
            <a:ext cx="88998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5 :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301637" y="1431817"/>
            <a:ext cx="15023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i</a:t>
            </a:r>
            <a:r>
              <a:rPr lang="en-US" b="1" dirty="0"/>
              <a:t>= 4</a:t>
            </a:r>
          </a:p>
          <a:p>
            <a:r>
              <a:rPr lang="en-US" b="1" dirty="0" err="1"/>
              <a:t>i</a:t>
            </a:r>
            <a:r>
              <a:rPr lang="en-US" b="1" dirty="0"/>
              <a:t>&lt;5</a:t>
            </a:r>
          </a:p>
          <a:p>
            <a:r>
              <a:rPr lang="en-US" b="1" dirty="0"/>
              <a:t>key = A[</a:t>
            </a:r>
            <a:r>
              <a:rPr lang="en-US" b="1" dirty="0" err="1"/>
              <a:t>i</a:t>
            </a:r>
            <a:r>
              <a:rPr lang="en-US" b="1" dirty="0"/>
              <a:t>] = 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71683" y="243418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5084" y="243229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8921" y="243040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94340" y="243040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19088" y="29195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77771" y="291576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88368" y="29108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47588" y="29195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06808" y="29282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7723" y="1138856"/>
            <a:ext cx="2656496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J = i-1 = 4-1 = 3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J&gt;=0 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True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>
                <a:solidFill>
                  <a:srgbClr val="C00000"/>
                </a:solidFill>
              </a:rPr>
              <a:t>A[j]&gt;key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37&gt;13  True</a:t>
            </a: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A[4] = A[3]</a:t>
            </a: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J--  j=2</a:t>
            </a:r>
          </a:p>
          <a:p>
            <a:endParaRPr lang="en-US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C00000"/>
                </a:solidFill>
              </a:rPr>
              <a:t>J&gt;=0 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True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>
                <a:solidFill>
                  <a:srgbClr val="C00000"/>
                </a:solidFill>
              </a:rPr>
              <a:t>A[j]&gt;key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29&gt;13  True</a:t>
            </a: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A[3] = A[2]</a:t>
            </a: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J--  j=1</a:t>
            </a:r>
          </a:p>
          <a:p>
            <a:endParaRPr lang="en-US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C00000"/>
                </a:solidFill>
              </a:rPr>
              <a:t>J&gt;=0 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True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>
                <a:solidFill>
                  <a:srgbClr val="C00000"/>
                </a:solidFill>
              </a:rPr>
              <a:t>A[j]&gt;key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14&gt;13  True</a:t>
            </a: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A[2] = A[1]</a:t>
            </a: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J--  j=0</a:t>
            </a:r>
          </a:p>
          <a:p>
            <a:endParaRPr lang="en-US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C00000"/>
                </a:solidFill>
              </a:rPr>
              <a:t>J&gt;=0 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True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>
                <a:solidFill>
                  <a:srgbClr val="C00000"/>
                </a:solidFill>
              </a:rPr>
              <a:t>A[j]&gt;key 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 10&gt;13  False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0B9DD9-7F85-1A23-D2A0-F3575256A1A0}"/>
              </a:ext>
            </a:extLst>
          </p:cNvPr>
          <p:cNvSpPr txBox="1"/>
          <p:nvPr/>
        </p:nvSpPr>
        <p:spPr>
          <a:xfrm>
            <a:off x="5441223" y="4781411"/>
            <a:ext cx="15456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A[j+1] = key</a:t>
            </a:r>
          </a:p>
          <a:p>
            <a:r>
              <a:rPr lang="en-US" dirty="0"/>
              <a:t>A[0+1] = 13 </a:t>
            </a:r>
          </a:p>
          <a:p>
            <a:r>
              <a:rPr lang="en-US" b="1" dirty="0">
                <a:solidFill>
                  <a:srgbClr val="C00000"/>
                </a:solidFill>
              </a:rPr>
              <a:t>A[1] = 13      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875BCA-F959-3384-BF06-0089FB2CFE4F}"/>
              </a:ext>
            </a:extLst>
          </p:cNvPr>
          <p:cNvSpPr/>
          <p:nvPr/>
        </p:nvSpPr>
        <p:spPr>
          <a:xfrm>
            <a:off x="3061578" y="2426499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29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A7E587-89DF-E440-92CE-11D650EEA686}"/>
              </a:ext>
            </a:extLst>
          </p:cNvPr>
          <p:cNvCxnSpPr>
            <a:cxnSpLocks/>
          </p:cNvCxnSpPr>
          <p:nvPr/>
        </p:nvCxnSpPr>
        <p:spPr>
          <a:xfrm flipV="1">
            <a:off x="7243844" y="2976435"/>
            <a:ext cx="2653219" cy="738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D1DAC01-84B9-B9ED-121A-203FD83506D8}"/>
              </a:ext>
            </a:extLst>
          </p:cNvPr>
          <p:cNvSpPr/>
          <p:nvPr/>
        </p:nvSpPr>
        <p:spPr>
          <a:xfrm>
            <a:off x="2546571" y="243418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C6BB38-F441-C1A8-FB2C-A793934B5DB6}"/>
              </a:ext>
            </a:extLst>
          </p:cNvPr>
          <p:cNvCxnSpPr>
            <a:cxnSpLocks/>
          </p:cNvCxnSpPr>
          <p:nvPr/>
        </p:nvCxnSpPr>
        <p:spPr>
          <a:xfrm flipV="1">
            <a:off x="7243844" y="1566893"/>
            <a:ext cx="2653219" cy="738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0B6A5F3-A631-1045-C210-96E5051C1E59}"/>
              </a:ext>
            </a:extLst>
          </p:cNvPr>
          <p:cNvSpPr/>
          <p:nvPr/>
        </p:nvSpPr>
        <p:spPr>
          <a:xfrm>
            <a:off x="4138921" y="243453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8161C6-2286-CF78-FCB3-DC41590DA6DC}"/>
              </a:ext>
            </a:extLst>
          </p:cNvPr>
          <p:cNvSpPr/>
          <p:nvPr/>
        </p:nvSpPr>
        <p:spPr>
          <a:xfrm>
            <a:off x="3606879" y="243453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29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847D10-CA5E-1C2E-BF5A-A10D9796885B}"/>
              </a:ext>
            </a:extLst>
          </p:cNvPr>
          <p:cNvCxnSpPr>
            <a:cxnSpLocks/>
          </p:cNvCxnSpPr>
          <p:nvPr/>
        </p:nvCxnSpPr>
        <p:spPr>
          <a:xfrm flipV="1">
            <a:off x="7228644" y="4309057"/>
            <a:ext cx="2653219" cy="738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55671F2-1D09-BADC-9EF4-AF07A36293F9}"/>
              </a:ext>
            </a:extLst>
          </p:cNvPr>
          <p:cNvSpPr/>
          <p:nvPr/>
        </p:nvSpPr>
        <p:spPr>
          <a:xfrm>
            <a:off x="3052635" y="2426499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81B389-2ECB-E46E-70BE-22C002DE594F}"/>
              </a:ext>
            </a:extLst>
          </p:cNvPr>
          <p:cNvCxnSpPr>
            <a:cxnSpLocks/>
          </p:cNvCxnSpPr>
          <p:nvPr/>
        </p:nvCxnSpPr>
        <p:spPr>
          <a:xfrm flipV="1">
            <a:off x="7197422" y="5668823"/>
            <a:ext cx="2653219" cy="738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8320291-EB72-5393-20AC-CB4AC6DF4704}"/>
              </a:ext>
            </a:extLst>
          </p:cNvPr>
          <p:cNvSpPr/>
          <p:nvPr/>
        </p:nvSpPr>
        <p:spPr>
          <a:xfrm>
            <a:off x="2501193" y="2437049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99254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5" grpId="0" animBg="1"/>
      <p:bldP spid="44" grpId="0" animBg="1"/>
      <p:bldP spid="12" grpId="0" animBg="1"/>
      <p:bldP spid="20" grpId="0" animBg="1"/>
      <p:bldP spid="21" grpId="0" animBg="1"/>
      <p:bldP spid="21" grpId="1" animBg="1"/>
      <p:bldP spid="22" grpId="0" animBg="1"/>
      <p:bldP spid="22" grpId="1" animBg="1"/>
      <p:bldP spid="23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4" grpId="0" animBg="1"/>
      <p:bldP spid="4" grpId="1" animBg="1"/>
      <p:bldP spid="17" grpId="0" animBg="1"/>
      <p:bldP spid="3" grpId="0" animBg="1"/>
      <p:bldP spid="5" grpId="0" animBg="1"/>
      <p:bldP spid="7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F111E64-A825-7845-CCC2-E7A37A8B67F0}"/>
              </a:ext>
            </a:extLst>
          </p:cNvPr>
          <p:cNvSpPr/>
          <p:nvPr/>
        </p:nvSpPr>
        <p:spPr>
          <a:xfrm>
            <a:off x="5239792" y="1378549"/>
            <a:ext cx="1610533" cy="79896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Insertion Sort</a:t>
            </a:r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>
          <a:xfrm flipV="1">
            <a:off x="1819763" y="1038386"/>
            <a:ext cx="8796576" cy="648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96515" y="1110442"/>
            <a:ext cx="889987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/>
              <a:t>Step 6 :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301637" y="1431817"/>
            <a:ext cx="1285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i</a:t>
            </a:r>
            <a:r>
              <a:rPr lang="en-US" b="1" dirty="0"/>
              <a:t>= 5</a:t>
            </a:r>
          </a:p>
          <a:p>
            <a:r>
              <a:rPr lang="en-US" b="1" dirty="0" err="1"/>
              <a:t>i</a:t>
            </a:r>
            <a:r>
              <a:rPr lang="en-US" b="1" dirty="0"/>
              <a:t>&lt;5 </a:t>
            </a:r>
            <a:r>
              <a:rPr lang="en-US" b="1" dirty="0">
                <a:sym typeface="Wingdings" panose="05000000000000000000" pitchFamily="2" charset="2"/>
              </a:rPr>
              <a:t> False</a:t>
            </a:r>
            <a:endParaRPr lang="en-US" b="1" dirty="0"/>
          </a:p>
        </p:txBody>
      </p:sp>
      <p:sp>
        <p:nvSpPr>
          <p:cNvPr id="21" name="Rectangle 20"/>
          <p:cNvSpPr/>
          <p:nvPr/>
        </p:nvSpPr>
        <p:spPr>
          <a:xfrm>
            <a:off x="3605084" y="243229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8921" y="243040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94340" y="243040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19088" y="29195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77771" y="291576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88368" y="29108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47588" y="29195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06808" y="2928249"/>
            <a:ext cx="663631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B6A5F3-A631-1045-C210-96E5051C1E59}"/>
              </a:ext>
            </a:extLst>
          </p:cNvPr>
          <p:cNvSpPr/>
          <p:nvPr/>
        </p:nvSpPr>
        <p:spPr>
          <a:xfrm>
            <a:off x="4138921" y="243453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8161C6-2286-CF78-FCB3-DC41590DA6DC}"/>
              </a:ext>
            </a:extLst>
          </p:cNvPr>
          <p:cNvSpPr/>
          <p:nvPr/>
        </p:nvSpPr>
        <p:spPr>
          <a:xfrm>
            <a:off x="3606879" y="2434532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5671F2-1D09-BADC-9EF4-AF07A36293F9}"/>
              </a:ext>
            </a:extLst>
          </p:cNvPr>
          <p:cNvSpPr/>
          <p:nvPr/>
        </p:nvSpPr>
        <p:spPr>
          <a:xfrm>
            <a:off x="3045737" y="2441568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320291-EB72-5393-20AC-CB4AC6DF4704}"/>
              </a:ext>
            </a:extLst>
          </p:cNvPr>
          <p:cNvSpPr/>
          <p:nvPr/>
        </p:nvSpPr>
        <p:spPr>
          <a:xfrm>
            <a:off x="2509902" y="2432859"/>
            <a:ext cx="54864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3863D7B-F8A1-7AEF-20CA-DF0BBD6947C4}"/>
              </a:ext>
            </a:extLst>
          </p:cNvPr>
          <p:cNvCxnSpPr/>
          <p:nvPr/>
        </p:nvCxnSpPr>
        <p:spPr>
          <a:xfrm>
            <a:off x="5943600" y="2426499"/>
            <a:ext cx="0" cy="1517820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4FC5CAE-2888-1A26-7F76-B13A2B994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439507"/>
              </p:ext>
            </p:extLst>
          </p:nvPr>
        </p:nvGraphicFramePr>
        <p:xfrm>
          <a:off x="4153724" y="4193306"/>
          <a:ext cx="36576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164774583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6123754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557849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0601110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84061577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0778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B7B97A0-8BC6-793B-E981-DD601A38E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629568"/>
              </p:ext>
            </p:extLst>
          </p:nvPr>
        </p:nvGraphicFramePr>
        <p:xfrm>
          <a:off x="4138921" y="4734558"/>
          <a:ext cx="3657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164774583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6123754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557849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0601110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84061577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307787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667C034-2CA4-E950-4C1C-0F6FB9130A12}"/>
              </a:ext>
            </a:extLst>
          </p:cNvPr>
          <p:cNvSpPr txBox="1"/>
          <p:nvPr/>
        </p:nvSpPr>
        <p:spPr>
          <a:xfrm>
            <a:off x="6177160" y="2967910"/>
            <a:ext cx="1744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Sorted Array</a:t>
            </a:r>
          </a:p>
        </p:txBody>
      </p:sp>
    </p:spTree>
    <p:extLst>
      <p:ext uri="{BB962C8B-B14F-4D97-AF65-F5344CB8AC3E}">
        <p14:creationId xmlns:p14="http://schemas.microsoft.com/office/powerpoint/2010/main" val="104402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12" grpId="0" animBg="1"/>
      <p:bldP spid="21" grpId="0" animBg="1"/>
      <p:bldP spid="22" grpId="0" animBg="1"/>
      <p:bldP spid="23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" grpId="0" animBg="1"/>
      <p:bldP spid="5" grpId="0" animBg="1"/>
      <p:bldP spid="7" grpId="0" animBg="1"/>
      <p:bldP spid="9" grpId="0" animBg="1"/>
      <p:bldP spid="2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731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B84742"/>
              </a:buClr>
            </a:pP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operation of sorting </a:t>
            </a:r>
            <a:r>
              <a:rPr lang="en-US" dirty="0"/>
              <a:t>is closely related to </a:t>
            </a:r>
            <a:r>
              <a:rPr lang="en-US" b="1" dirty="0">
                <a:solidFill>
                  <a:srgbClr val="C00000"/>
                </a:solidFill>
              </a:rPr>
              <a:t>process of merging.</a:t>
            </a:r>
          </a:p>
          <a:p>
            <a:pPr>
              <a:buClr>
                <a:srgbClr val="B84742"/>
              </a:buClr>
            </a:pPr>
            <a:r>
              <a:rPr lang="en-US" dirty="0"/>
              <a:t>Merge Sort is a </a:t>
            </a:r>
            <a:r>
              <a:rPr lang="en-US" b="1" dirty="0">
                <a:solidFill>
                  <a:srgbClr val="C00000"/>
                </a:solidFill>
              </a:rPr>
              <a:t>divide and conquer algorithm.</a:t>
            </a:r>
          </a:p>
          <a:p>
            <a:pPr>
              <a:buClr>
                <a:srgbClr val="B84742"/>
              </a:buClr>
            </a:pPr>
            <a:r>
              <a:rPr lang="en-US" dirty="0"/>
              <a:t>It is based on the </a:t>
            </a:r>
            <a:r>
              <a:rPr lang="en-US" b="1" dirty="0">
                <a:solidFill>
                  <a:srgbClr val="C00000"/>
                </a:solidFill>
              </a:rPr>
              <a:t>idea of breaking down a list into several sub-lists </a:t>
            </a:r>
            <a:r>
              <a:rPr lang="en-US" dirty="0"/>
              <a:t>until each sub list consists of a </a:t>
            </a:r>
            <a:r>
              <a:rPr lang="en-US" b="1" dirty="0">
                <a:solidFill>
                  <a:srgbClr val="C00000"/>
                </a:solidFill>
              </a:rPr>
              <a:t>single element.</a:t>
            </a:r>
          </a:p>
          <a:p>
            <a:pPr>
              <a:buClr>
                <a:srgbClr val="B84742"/>
              </a:buClr>
            </a:pPr>
            <a:r>
              <a:rPr lang="en-US" b="1" dirty="0">
                <a:solidFill>
                  <a:srgbClr val="C00000"/>
                </a:solidFill>
              </a:rPr>
              <a:t>Merging those sub lists </a:t>
            </a:r>
            <a:r>
              <a:rPr lang="en-US" dirty="0"/>
              <a:t>in a manner that results into a sorted list.</a:t>
            </a:r>
          </a:p>
          <a:p>
            <a:pPr>
              <a:buClr>
                <a:srgbClr val="B84742"/>
              </a:buClr>
            </a:pPr>
            <a:r>
              <a:rPr lang="en-US" b="1" dirty="0"/>
              <a:t>Procedure</a:t>
            </a:r>
          </a:p>
          <a:p>
            <a:pPr lvl="1">
              <a:buClr>
                <a:srgbClr val="B84742"/>
              </a:buClr>
            </a:pPr>
            <a:r>
              <a:rPr lang="en-US" b="1" dirty="0">
                <a:solidFill>
                  <a:srgbClr val="C00000"/>
                </a:solidFill>
              </a:rPr>
              <a:t>Divide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the unsorted </a:t>
            </a:r>
            <a:r>
              <a:rPr lang="en-US" b="1" dirty="0">
                <a:solidFill>
                  <a:srgbClr val="C00000"/>
                </a:solidFill>
              </a:rPr>
              <a:t>list into N sub </a:t>
            </a:r>
            <a:r>
              <a:rPr lang="en-US" dirty="0"/>
              <a:t>lists, </a:t>
            </a:r>
            <a:r>
              <a:rPr lang="en-US" b="1" dirty="0"/>
              <a:t>each containing 1 element.</a:t>
            </a:r>
          </a:p>
          <a:p>
            <a:pPr lvl="1">
              <a:buClr>
                <a:srgbClr val="B84742"/>
              </a:buClr>
            </a:pPr>
            <a:r>
              <a:rPr lang="en-US" dirty="0"/>
              <a:t>Take </a:t>
            </a:r>
            <a:r>
              <a:rPr lang="en-US" b="1" dirty="0">
                <a:solidFill>
                  <a:srgbClr val="C00000"/>
                </a:solidFill>
              </a:rPr>
              <a:t>adjacent pairs </a:t>
            </a:r>
            <a:r>
              <a:rPr lang="en-US" dirty="0"/>
              <a:t>of two singleton lists and </a:t>
            </a:r>
            <a:r>
              <a:rPr lang="en-US" b="1" dirty="0">
                <a:solidFill>
                  <a:srgbClr val="C00000"/>
                </a:solidFill>
              </a:rPr>
              <a:t>merge them </a:t>
            </a:r>
            <a:r>
              <a:rPr lang="en-US" dirty="0"/>
              <a:t>to form a </a:t>
            </a:r>
            <a:r>
              <a:rPr lang="en-US" b="1" dirty="0">
                <a:solidFill>
                  <a:srgbClr val="C00000"/>
                </a:solidFill>
              </a:rPr>
              <a:t>list of 2 elements</a:t>
            </a:r>
            <a:r>
              <a:rPr lang="en-US" dirty="0"/>
              <a:t>. N will now convert into N/2 lists of size 2.</a:t>
            </a:r>
          </a:p>
          <a:p>
            <a:pPr lvl="1">
              <a:buClr>
                <a:srgbClr val="B84742"/>
              </a:buClr>
            </a:pPr>
            <a:r>
              <a:rPr lang="en-US" dirty="0"/>
              <a:t>Repeat the process till a single sorted list of obtained.</a:t>
            </a:r>
          </a:p>
          <a:p>
            <a:pPr>
              <a:buClr>
                <a:srgbClr val="B84742"/>
              </a:buClr>
            </a:pPr>
            <a:r>
              <a:rPr lang="en-US" dirty="0"/>
              <a:t>Time complexity is </a:t>
            </a:r>
            <a:r>
              <a:rPr lang="en-US" b="1" dirty="0">
                <a:solidFill>
                  <a:srgbClr val="C00000"/>
                </a:solidFill>
              </a:rPr>
              <a:t>O(n log 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07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Merge Sort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05200" y="1345582"/>
          <a:ext cx="5249336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451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73124" y="883918"/>
            <a:ext cx="2045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Unsorted Array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00964" y="1874517"/>
          <a:ext cx="524933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6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en-US" sz="1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1752600" y="2420617"/>
            <a:ext cx="8686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048000" y="35509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sp>
        <p:nvSpPr>
          <p:cNvPr id="10" name="Rectangle 9"/>
          <p:cNvSpPr/>
          <p:nvPr/>
        </p:nvSpPr>
        <p:spPr>
          <a:xfrm>
            <a:off x="3810000" y="35509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11" name="Rectangle 10"/>
          <p:cNvSpPr/>
          <p:nvPr/>
        </p:nvSpPr>
        <p:spPr>
          <a:xfrm>
            <a:off x="4572000" y="35509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12" name="Rectangle 11"/>
          <p:cNvSpPr/>
          <p:nvPr/>
        </p:nvSpPr>
        <p:spPr>
          <a:xfrm>
            <a:off x="5334000" y="35509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13" name="Rectangle 12"/>
          <p:cNvSpPr/>
          <p:nvPr/>
        </p:nvSpPr>
        <p:spPr>
          <a:xfrm>
            <a:off x="6096000" y="35509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14" name="Rectangle 13"/>
          <p:cNvSpPr/>
          <p:nvPr/>
        </p:nvSpPr>
        <p:spPr>
          <a:xfrm>
            <a:off x="6858000" y="35509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15" name="Rectangle 14"/>
          <p:cNvSpPr/>
          <p:nvPr/>
        </p:nvSpPr>
        <p:spPr>
          <a:xfrm>
            <a:off x="7620000" y="35509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16" name="Rectangle 15"/>
          <p:cNvSpPr/>
          <p:nvPr/>
        </p:nvSpPr>
        <p:spPr>
          <a:xfrm>
            <a:off x="8382000" y="35509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17" name="Rectangle 16"/>
          <p:cNvSpPr/>
          <p:nvPr/>
        </p:nvSpPr>
        <p:spPr>
          <a:xfrm>
            <a:off x="3048000" y="30937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0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810000" y="30937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1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0" y="30937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2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334000" y="30937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3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96000" y="30937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4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858000" y="30937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5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620000" y="30937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6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382000" y="30937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7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51124" y="2604251"/>
            <a:ext cx="5410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Step 1: Split the selected array (as evenly as possible)</a:t>
            </a:r>
            <a:endParaRPr lang="en-US" b="1" dirty="0"/>
          </a:p>
        </p:txBody>
      </p:sp>
      <p:sp>
        <p:nvSpPr>
          <p:cNvPr id="26" name="Rectangle 25"/>
          <p:cNvSpPr/>
          <p:nvPr/>
        </p:nvSpPr>
        <p:spPr>
          <a:xfrm>
            <a:off x="2057400" y="47701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sp>
        <p:nvSpPr>
          <p:cNvPr id="27" name="Rectangle 26"/>
          <p:cNvSpPr/>
          <p:nvPr/>
        </p:nvSpPr>
        <p:spPr>
          <a:xfrm>
            <a:off x="2819400" y="47701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28" name="Rectangle 27"/>
          <p:cNvSpPr/>
          <p:nvPr/>
        </p:nvSpPr>
        <p:spPr>
          <a:xfrm>
            <a:off x="3581400" y="47701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29" name="Rectangle 28"/>
          <p:cNvSpPr/>
          <p:nvPr/>
        </p:nvSpPr>
        <p:spPr>
          <a:xfrm>
            <a:off x="4343400" y="47701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30" name="Rectangle 29"/>
          <p:cNvSpPr/>
          <p:nvPr/>
        </p:nvSpPr>
        <p:spPr>
          <a:xfrm>
            <a:off x="2057400" y="51765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0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819400" y="51765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1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581400" y="51765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2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343400" y="51765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3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162800" y="47701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35" name="Rectangle 34"/>
          <p:cNvSpPr/>
          <p:nvPr/>
        </p:nvSpPr>
        <p:spPr>
          <a:xfrm>
            <a:off x="7924800" y="47701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36" name="Rectangle 35"/>
          <p:cNvSpPr/>
          <p:nvPr/>
        </p:nvSpPr>
        <p:spPr>
          <a:xfrm>
            <a:off x="8686800" y="47701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37" name="Rectangle 36"/>
          <p:cNvSpPr/>
          <p:nvPr/>
        </p:nvSpPr>
        <p:spPr>
          <a:xfrm>
            <a:off x="9448800" y="4770117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38" name="Rectangle 37"/>
          <p:cNvSpPr/>
          <p:nvPr/>
        </p:nvSpPr>
        <p:spPr>
          <a:xfrm>
            <a:off x="7162800" y="51765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4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924800" y="51765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5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686800" y="51765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6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448800" y="517651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7</a:t>
            </a:r>
            <a:endParaRPr lang="en-US" sz="2400" b="1" dirty="0">
              <a:solidFill>
                <a:srgbClr val="C00000"/>
              </a:solidFill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 flipH="1">
            <a:off x="3581400" y="3931917"/>
            <a:ext cx="2514600" cy="7620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6096000" y="3931917"/>
            <a:ext cx="2590800" cy="7620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81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Merge Sort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37312" y="1066800"/>
            <a:ext cx="7384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Step: Select the left </a:t>
            </a:r>
            <a:r>
              <a:rPr lang="en-US" b="1" dirty="0" err="1"/>
              <a:t>subarray</a:t>
            </a:r>
            <a:r>
              <a:rPr lang="en-US" b="1" dirty="0"/>
              <a:t>, </a:t>
            </a:r>
            <a:r>
              <a:rPr lang="en-IN" b="1" dirty="0"/>
              <a:t>Split the selected array (as evenly as possible)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3048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7" name="Rectangle 6"/>
          <p:cNvSpPr/>
          <p:nvPr/>
        </p:nvSpPr>
        <p:spPr>
          <a:xfrm>
            <a:off x="3810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8" name="Rectangle 7"/>
          <p:cNvSpPr/>
          <p:nvPr/>
        </p:nvSpPr>
        <p:spPr>
          <a:xfrm>
            <a:off x="4572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9" name="Rectangle 8"/>
          <p:cNvSpPr/>
          <p:nvPr/>
        </p:nvSpPr>
        <p:spPr>
          <a:xfrm>
            <a:off x="2286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0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48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1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10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2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3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239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14" name="Rectangle 13"/>
          <p:cNvSpPr/>
          <p:nvPr/>
        </p:nvSpPr>
        <p:spPr>
          <a:xfrm>
            <a:off x="8001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15" name="Rectangle 14"/>
          <p:cNvSpPr/>
          <p:nvPr/>
        </p:nvSpPr>
        <p:spPr>
          <a:xfrm>
            <a:off x="8763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16" name="Rectangle 15"/>
          <p:cNvSpPr/>
          <p:nvPr/>
        </p:nvSpPr>
        <p:spPr>
          <a:xfrm>
            <a:off x="9525000" y="17526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17" name="Rectangle 16"/>
          <p:cNvSpPr/>
          <p:nvPr/>
        </p:nvSpPr>
        <p:spPr>
          <a:xfrm>
            <a:off x="7239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4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001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63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25000" y="13462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7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9812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sp>
        <p:nvSpPr>
          <p:cNvPr id="23" name="Rectangle 22"/>
          <p:cNvSpPr/>
          <p:nvPr/>
        </p:nvSpPr>
        <p:spPr>
          <a:xfrm>
            <a:off x="27432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24" name="Rectangle 23"/>
          <p:cNvSpPr/>
          <p:nvPr/>
        </p:nvSpPr>
        <p:spPr>
          <a:xfrm>
            <a:off x="19812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C00000"/>
                </a:solidFill>
              </a:rPr>
              <a:t>0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IN" sz="2400" b="1" dirty="0">
                <a:solidFill>
                  <a:srgbClr val="C00000"/>
                </a:solidFill>
              </a:rPr>
              <a:t>1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0386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27" name="Rectangle 26"/>
          <p:cNvSpPr/>
          <p:nvPr/>
        </p:nvSpPr>
        <p:spPr>
          <a:xfrm>
            <a:off x="48006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28" name="Rectangle 27"/>
          <p:cNvSpPr/>
          <p:nvPr/>
        </p:nvSpPr>
        <p:spPr>
          <a:xfrm>
            <a:off x="40386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C00000"/>
                </a:solidFill>
              </a:rPr>
              <a:t>2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8006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IN" sz="2400" b="1" dirty="0">
                <a:solidFill>
                  <a:srgbClr val="C00000"/>
                </a:solidFill>
              </a:rPr>
              <a:t>3</a:t>
            </a:r>
            <a:endParaRPr lang="en-US" sz="2400" b="1" dirty="0">
              <a:solidFill>
                <a:srgbClr val="C00000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2743200" y="2133600"/>
            <a:ext cx="1066800" cy="5334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810000" y="2133600"/>
            <a:ext cx="990600" cy="5334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6764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sp>
        <p:nvSpPr>
          <p:cNvPr id="35" name="Rectangle 34"/>
          <p:cNvSpPr/>
          <p:nvPr/>
        </p:nvSpPr>
        <p:spPr>
          <a:xfrm>
            <a:off x="16764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C00000"/>
                </a:solidFill>
              </a:rPr>
              <a:t>0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8956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37" name="Rectangle 36"/>
          <p:cNvSpPr/>
          <p:nvPr/>
        </p:nvSpPr>
        <p:spPr>
          <a:xfrm>
            <a:off x="28956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100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39" name="Rectangle 38"/>
          <p:cNvSpPr/>
          <p:nvPr/>
        </p:nvSpPr>
        <p:spPr>
          <a:xfrm>
            <a:off x="38100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C00000"/>
                </a:solidFill>
              </a:rPr>
              <a:t>2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9530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41" name="Rectangle 40"/>
          <p:cNvSpPr/>
          <p:nvPr/>
        </p:nvSpPr>
        <p:spPr>
          <a:xfrm>
            <a:off x="49530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IN" sz="2400" b="1" dirty="0">
                <a:solidFill>
                  <a:srgbClr val="C00000"/>
                </a:solidFill>
              </a:rPr>
              <a:t>3</a:t>
            </a:r>
            <a:endParaRPr lang="en-US" sz="2400" b="1" dirty="0">
              <a:solidFill>
                <a:srgbClr val="C00000"/>
              </a:solidFill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 flipH="1">
            <a:off x="2057400" y="3200400"/>
            <a:ext cx="685800" cy="3810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2743200" y="3200400"/>
            <a:ext cx="533400" cy="3810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4114800" y="3200400"/>
            <a:ext cx="685800" cy="3810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4800600" y="3200400"/>
            <a:ext cx="533400" cy="3810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9812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52" name="Rectangle 51"/>
          <p:cNvSpPr/>
          <p:nvPr/>
        </p:nvSpPr>
        <p:spPr>
          <a:xfrm>
            <a:off x="27432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sp>
        <p:nvSpPr>
          <p:cNvPr id="53" name="Rectangle 52"/>
          <p:cNvSpPr/>
          <p:nvPr/>
        </p:nvSpPr>
        <p:spPr>
          <a:xfrm>
            <a:off x="40386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54" name="Rectangle 53"/>
          <p:cNvSpPr/>
          <p:nvPr/>
        </p:nvSpPr>
        <p:spPr>
          <a:xfrm>
            <a:off x="48006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cxnSp>
        <p:nvCxnSpPr>
          <p:cNvPr id="56" name="Straight Arrow Connector 55"/>
          <p:cNvCxnSpPr>
            <a:stCxn id="34" idx="2"/>
          </p:cNvCxnSpPr>
          <p:nvPr/>
        </p:nvCxnSpPr>
        <p:spPr>
          <a:xfrm>
            <a:off x="2057400" y="4267200"/>
            <a:ext cx="6858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36" idx="2"/>
          </p:cNvCxnSpPr>
          <p:nvPr/>
        </p:nvCxnSpPr>
        <p:spPr>
          <a:xfrm flipH="1">
            <a:off x="2743200" y="4267200"/>
            <a:ext cx="5334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38" idx="2"/>
          </p:cNvCxnSpPr>
          <p:nvPr/>
        </p:nvCxnSpPr>
        <p:spPr>
          <a:xfrm>
            <a:off x="4191000" y="4267200"/>
            <a:ext cx="6096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40" idx="2"/>
          </p:cNvCxnSpPr>
          <p:nvPr/>
        </p:nvCxnSpPr>
        <p:spPr>
          <a:xfrm flipH="1">
            <a:off x="4800600" y="4267200"/>
            <a:ext cx="5334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2260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64" name="Rectangle 63"/>
          <p:cNvSpPr/>
          <p:nvPr/>
        </p:nvSpPr>
        <p:spPr>
          <a:xfrm>
            <a:off x="3022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65" name="Rectangle 64"/>
          <p:cNvSpPr/>
          <p:nvPr/>
        </p:nvSpPr>
        <p:spPr>
          <a:xfrm>
            <a:off x="3784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66" name="Rectangle 65"/>
          <p:cNvSpPr/>
          <p:nvPr/>
        </p:nvSpPr>
        <p:spPr>
          <a:xfrm>
            <a:off x="4546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2743200" y="4953000"/>
            <a:ext cx="10414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H="1">
            <a:off x="3810000" y="4953000"/>
            <a:ext cx="9906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69342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72" name="Rectangle 71"/>
          <p:cNvSpPr/>
          <p:nvPr/>
        </p:nvSpPr>
        <p:spPr>
          <a:xfrm>
            <a:off x="76962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73" name="Rectangle 72"/>
          <p:cNvSpPr/>
          <p:nvPr/>
        </p:nvSpPr>
        <p:spPr>
          <a:xfrm>
            <a:off x="69342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962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916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76" name="Rectangle 75"/>
          <p:cNvSpPr/>
          <p:nvPr/>
        </p:nvSpPr>
        <p:spPr>
          <a:xfrm>
            <a:off x="9753600" y="28194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77" name="Rectangle 76"/>
          <p:cNvSpPr/>
          <p:nvPr/>
        </p:nvSpPr>
        <p:spPr>
          <a:xfrm>
            <a:off x="89916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53600" y="24003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7</a:t>
            </a:r>
          </a:p>
        </p:txBody>
      </p:sp>
      <p:cxnSp>
        <p:nvCxnSpPr>
          <p:cNvPr id="79" name="Straight Arrow Connector 78"/>
          <p:cNvCxnSpPr/>
          <p:nvPr/>
        </p:nvCxnSpPr>
        <p:spPr>
          <a:xfrm flipH="1">
            <a:off x="7696200" y="2133600"/>
            <a:ext cx="1066800" cy="5334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8763000" y="2133600"/>
            <a:ext cx="990600" cy="5334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66294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82" name="Rectangle 81"/>
          <p:cNvSpPr/>
          <p:nvPr/>
        </p:nvSpPr>
        <p:spPr>
          <a:xfrm>
            <a:off x="66294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rgbClr val="C00000"/>
                </a:solidFill>
              </a:rPr>
              <a:t>4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78486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84" name="Rectangle 83"/>
          <p:cNvSpPr/>
          <p:nvPr/>
        </p:nvSpPr>
        <p:spPr>
          <a:xfrm>
            <a:off x="78486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7630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86" name="Rectangle 85"/>
          <p:cNvSpPr/>
          <p:nvPr/>
        </p:nvSpPr>
        <p:spPr>
          <a:xfrm>
            <a:off x="87630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829800" y="38862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88" name="Rectangle 87"/>
          <p:cNvSpPr/>
          <p:nvPr/>
        </p:nvSpPr>
        <p:spPr>
          <a:xfrm>
            <a:off x="9829800" y="3479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IN" sz="2400" b="1" dirty="0">
                <a:solidFill>
                  <a:srgbClr val="C00000"/>
                </a:solidFill>
              </a:rPr>
              <a:t>7</a:t>
            </a:r>
            <a:endParaRPr lang="en-US" sz="2400" b="1" dirty="0">
              <a:solidFill>
                <a:srgbClr val="C00000"/>
              </a:solidFill>
            </a:endParaRPr>
          </a:p>
        </p:txBody>
      </p:sp>
      <p:cxnSp>
        <p:nvCxnSpPr>
          <p:cNvPr id="89" name="Straight Arrow Connector 88"/>
          <p:cNvCxnSpPr/>
          <p:nvPr/>
        </p:nvCxnSpPr>
        <p:spPr>
          <a:xfrm flipH="1">
            <a:off x="7010400" y="3200400"/>
            <a:ext cx="685800" cy="3810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7696200" y="3200400"/>
            <a:ext cx="533400" cy="3810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flipH="1">
            <a:off x="9067800" y="3200400"/>
            <a:ext cx="685800" cy="3810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9753600" y="3200400"/>
            <a:ext cx="533400" cy="3810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69342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94" name="Rectangle 93"/>
          <p:cNvSpPr/>
          <p:nvPr/>
        </p:nvSpPr>
        <p:spPr>
          <a:xfrm>
            <a:off x="76962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95" name="Rectangle 94"/>
          <p:cNvSpPr/>
          <p:nvPr/>
        </p:nvSpPr>
        <p:spPr>
          <a:xfrm>
            <a:off x="89916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96" name="Rectangle 95"/>
          <p:cNvSpPr/>
          <p:nvPr/>
        </p:nvSpPr>
        <p:spPr>
          <a:xfrm>
            <a:off x="9753600" y="45720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cxnSp>
        <p:nvCxnSpPr>
          <p:cNvPr id="97" name="Straight Arrow Connector 96"/>
          <p:cNvCxnSpPr>
            <a:stCxn id="81" idx="2"/>
          </p:cNvCxnSpPr>
          <p:nvPr/>
        </p:nvCxnSpPr>
        <p:spPr>
          <a:xfrm>
            <a:off x="7010400" y="4267200"/>
            <a:ext cx="6858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83" idx="2"/>
          </p:cNvCxnSpPr>
          <p:nvPr/>
        </p:nvCxnSpPr>
        <p:spPr>
          <a:xfrm flipH="1">
            <a:off x="7696200" y="4267200"/>
            <a:ext cx="5334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stCxn id="85" idx="2"/>
          </p:cNvCxnSpPr>
          <p:nvPr/>
        </p:nvCxnSpPr>
        <p:spPr>
          <a:xfrm>
            <a:off x="9144000" y="4267200"/>
            <a:ext cx="6096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>
            <a:stCxn id="87" idx="2"/>
          </p:cNvCxnSpPr>
          <p:nvPr/>
        </p:nvCxnSpPr>
        <p:spPr>
          <a:xfrm flipH="1">
            <a:off x="9677400" y="4267200"/>
            <a:ext cx="5334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7213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102" name="Rectangle 101"/>
          <p:cNvSpPr/>
          <p:nvPr/>
        </p:nvSpPr>
        <p:spPr>
          <a:xfrm>
            <a:off x="7975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103" name="Rectangle 102"/>
          <p:cNvSpPr/>
          <p:nvPr/>
        </p:nvSpPr>
        <p:spPr>
          <a:xfrm>
            <a:off x="8737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104" name="Rectangle 103"/>
          <p:cNvSpPr/>
          <p:nvPr/>
        </p:nvSpPr>
        <p:spPr>
          <a:xfrm>
            <a:off x="9499600" y="5257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cxnSp>
        <p:nvCxnSpPr>
          <p:cNvPr id="105" name="Straight Arrow Connector 104"/>
          <p:cNvCxnSpPr/>
          <p:nvPr/>
        </p:nvCxnSpPr>
        <p:spPr>
          <a:xfrm>
            <a:off x="7696200" y="4953000"/>
            <a:ext cx="10414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 flipH="1">
            <a:off x="8763000" y="4953000"/>
            <a:ext cx="990600" cy="304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3124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2</a:t>
            </a:r>
            <a:endParaRPr lang="en-US" sz="2400" b="1" dirty="0"/>
          </a:p>
        </p:txBody>
      </p:sp>
      <p:sp>
        <p:nvSpPr>
          <p:cNvPr id="108" name="Rectangle 107"/>
          <p:cNvSpPr/>
          <p:nvPr/>
        </p:nvSpPr>
        <p:spPr>
          <a:xfrm>
            <a:off x="3886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31</a:t>
            </a:r>
            <a:endParaRPr lang="en-US" sz="2400" b="1" dirty="0"/>
          </a:p>
        </p:txBody>
      </p:sp>
      <p:sp>
        <p:nvSpPr>
          <p:cNvPr id="109" name="Rectangle 108"/>
          <p:cNvSpPr/>
          <p:nvPr/>
        </p:nvSpPr>
        <p:spPr>
          <a:xfrm>
            <a:off x="4648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98</a:t>
            </a:r>
            <a:endParaRPr lang="en-US" sz="2400" b="1" dirty="0"/>
          </a:p>
        </p:txBody>
      </p:sp>
      <p:sp>
        <p:nvSpPr>
          <p:cNvPr id="110" name="Rectangle 109"/>
          <p:cNvSpPr/>
          <p:nvPr/>
        </p:nvSpPr>
        <p:spPr>
          <a:xfrm>
            <a:off x="5410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189</a:t>
            </a:r>
            <a:endParaRPr lang="en-US" sz="2400" b="1" dirty="0"/>
          </a:p>
        </p:txBody>
      </p:sp>
      <p:sp>
        <p:nvSpPr>
          <p:cNvPr id="111" name="Rectangle 110"/>
          <p:cNvSpPr/>
          <p:nvPr/>
        </p:nvSpPr>
        <p:spPr>
          <a:xfrm>
            <a:off x="6172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451</a:t>
            </a:r>
            <a:endParaRPr lang="en-US" sz="2400" b="1" dirty="0"/>
          </a:p>
        </p:txBody>
      </p:sp>
      <p:sp>
        <p:nvSpPr>
          <p:cNvPr id="112" name="Rectangle 111"/>
          <p:cNvSpPr/>
          <p:nvPr/>
        </p:nvSpPr>
        <p:spPr>
          <a:xfrm>
            <a:off x="6934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521</a:t>
            </a:r>
            <a:endParaRPr lang="en-US" sz="2400" b="1" dirty="0"/>
          </a:p>
        </p:txBody>
      </p:sp>
      <p:sp>
        <p:nvSpPr>
          <p:cNvPr id="113" name="Rectangle 112"/>
          <p:cNvSpPr/>
          <p:nvPr/>
        </p:nvSpPr>
        <p:spPr>
          <a:xfrm>
            <a:off x="7696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114" name="Rectangle 113"/>
          <p:cNvSpPr/>
          <p:nvPr/>
        </p:nvSpPr>
        <p:spPr>
          <a:xfrm>
            <a:off x="8458200" y="6019800"/>
            <a:ext cx="7620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3784600" y="5638800"/>
            <a:ext cx="2387600" cy="3810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 flipH="1">
            <a:off x="6172200" y="5638800"/>
            <a:ext cx="2590800" cy="3810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29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51" grpId="0" animBg="1"/>
      <p:bldP spid="52" grpId="0" animBg="1"/>
      <p:bldP spid="53" grpId="0" animBg="1"/>
      <p:bldP spid="54" grpId="0" animBg="1"/>
      <p:bldP spid="63" grpId="0" animBg="1"/>
      <p:bldP spid="64" grpId="0" animBg="1"/>
      <p:bldP spid="65" grpId="0" animBg="1"/>
      <p:bldP spid="66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93" grpId="0" animBg="1"/>
      <p:bldP spid="94" grpId="0" animBg="1"/>
      <p:bldP spid="95" grpId="0" animBg="1"/>
      <p:bldP spid="96" grpId="0" animBg="1"/>
      <p:bldP spid="101" grpId="0" animBg="1"/>
      <p:bldP spid="102" grpId="0" animBg="1"/>
      <p:bldP spid="103" grpId="0" animBg="1"/>
      <p:bldP spid="104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7" name="Content Placeholder 4"/>
          <p:cNvSpPr txBox="1">
            <a:spLocks/>
          </p:cNvSpPr>
          <p:nvPr/>
        </p:nvSpPr>
        <p:spPr>
          <a:xfrm>
            <a:off x="203370" y="926429"/>
            <a:ext cx="11334913" cy="39446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809625" indent="-352425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00000"/>
              </a:lnSpc>
              <a:buFont typeface="Wingdings 3" panose="05040102010807070707" pitchFamily="18" charset="2"/>
              <a:buNone/>
            </a:pPr>
            <a:r>
              <a:rPr lang="en-IN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</a:t>
            </a:r>
            <a:r>
              <a:rPr lang="en-IN" b="1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mergesort</a:t>
            </a:r>
            <a:r>
              <a:rPr lang="en-IN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(low, high)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b="1" dirty="0">
                <a:latin typeface="Consolas" pitchFamily="49" charset="0"/>
                <a:cs typeface="Consolas" pitchFamily="49" charset="0"/>
              </a:rPr>
              <a:t>global array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a[low : high]; [having high-low+1 elements]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b="1" dirty="0">
                <a:latin typeface="Consolas" pitchFamily="49" charset="0"/>
                <a:cs typeface="Consolas" pitchFamily="49" charset="0"/>
              </a:rPr>
              <a:t>if 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low &lt; high </a:t>
            </a:r>
            <a:r>
              <a:rPr lang="en-IN" b="1" dirty="0">
                <a:latin typeface="Consolas" pitchFamily="49" charset="0"/>
                <a:cs typeface="Consolas" pitchFamily="49" charset="0"/>
              </a:rPr>
              <a:t>then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Consolas" pitchFamily="49" charset="0"/>
                <a:cs typeface="Consolas" pitchFamily="49" charset="0"/>
              </a:rPr>
              <a:t>  mid = floor((low + high)/2);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IN" dirty="0" err="1">
                <a:latin typeface="Consolas" pitchFamily="49" charset="0"/>
                <a:cs typeface="Consolas" pitchFamily="49" charset="0"/>
              </a:rPr>
              <a:t>mergesort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(low, mid);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IN" dirty="0" err="1">
                <a:latin typeface="Consolas" pitchFamily="49" charset="0"/>
                <a:cs typeface="Consolas" pitchFamily="49" charset="0"/>
              </a:rPr>
              <a:t>mergesort</a:t>
            </a:r>
            <a:r>
              <a:rPr lang="en-IN" dirty="0">
                <a:latin typeface="Consolas" pitchFamily="49" charset="0"/>
                <a:cs typeface="Consolas" pitchFamily="49" charset="0"/>
              </a:rPr>
              <a:t>(mid+1, high);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dirty="0">
                <a:latin typeface="Consolas" pitchFamily="49" charset="0"/>
                <a:cs typeface="Consolas" pitchFamily="49" charset="0"/>
              </a:rPr>
              <a:t>  merge(low, mid, high);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b="1" dirty="0">
                <a:latin typeface="Consolas" pitchFamily="49" charset="0"/>
                <a:cs typeface="Consolas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57608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 txBox="1">
            <a:spLocks/>
          </p:cNvSpPr>
          <p:nvPr/>
        </p:nvSpPr>
        <p:spPr>
          <a:xfrm>
            <a:off x="131178" y="11997"/>
            <a:ext cx="8543590" cy="65556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809625" indent="-352425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Wingdings 3" panose="05040102010807070707" pitchFamily="18" charset="2"/>
              <a:buNone/>
            </a:pPr>
            <a:r>
              <a:rPr lang="en-IN" sz="20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Algorithm: merge(low, mid, high)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global array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a[low : high];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local integer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h, i, j, k;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local array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b[low : high];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h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low;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i  low;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j  mid+1</a:t>
            </a:r>
            <a:endParaRPr lang="en-IN" sz="2000" dirty="0">
              <a:latin typeface="Consolas" pitchFamily="49" charset="0"/>
              <a:cs typeface="Consolas" pitchFamily="49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while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h &lt;= mid 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and 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j &lt;= high 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do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if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a[h] &lt;= a[j] 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then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      b[i]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a[h];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	   h  h+1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IN" sz="2000" b="1" dirty="0">
                <a:latin typeface="Consolas" pitchFamily="49" charset="0"/>
                <a:cs typeface="Consolas" pitchFamily="49" charset="0"/>
                <a:sym typeface="Wingdings" pitchFamily="2" charset="2"/>
              </a:rPr>
              <a:t>else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	   b[i]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a[j];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	   j  j+1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  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end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  i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i+1</a:t>
            </a:r>
            <a:endParaRPr lang="en-IN" sz="2000" dirty="0">
              <a:latin typeface="Consolas" pitchFamily="49" charset="0"/>
              <a:cs typeface="Consolas" pitchFamily="49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56675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 txBox="1">
            <a:spLocks/>
          </p:cNvSpPr>
          <p:nvPr/>
        </p:nvSpPr>
        <p:spPr>
          <a:xfrm>
            <a:off x="131178" y="192477"/>
            <a:ext cx="8543590" cy="61709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809625" indent="-352425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[ we should handle any remaining elements]</a:t>
            </a:r>
            <a:endParaRPr lang="en-IN" sz="2000" dirty="0">
              <a:latin typeface="Consolas" pitchFamily="49" charset="0"/>
              <a:cs typeface="Consolas" pitchFamily="49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if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h &gt; mid 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then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for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k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j to high </a:t>
            </a:r>
            <a:r>
              <a:rPr lang="en-IN" sz="2000" b="1" dirty="0">
                <a:latin typeface="Consolas" pitchFamily="49" charset="0"/>
                <a:cs typeface="Consolas" pitchFamily="49" charset="0"/>
                <a:sym typeface="Wingdings" pitchFamily="2" charset="2"/>
              </a:rPr>
              <a:t>do</a:t>
            </a:r>
            <a:endParaRPr lang="en-IN" sz="2000" b="1" dirty="0">
              <a:latin typeface="Consolas" pitchFamily="49" charset="0"/>
              <a:cs typeface="Consolas" pitchFamily="49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		b[i]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a[k];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		i  i+1;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	</a:t>
            </a:r>
            <a:r>
              <a:rPr lang="en-IN" sz="2000" b="1" dirty="0">
                <a:latin typeface="Consolas" pitchFamily="49" charset="0"/>
                <a:cs typeface="Consolas" pitchFamily="49" charset="0"/>
                <a:sym typeface="Wingdings" pitchFamily="2" charset="2"/>
              </a:rPr>
              <a:t>end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endParaRPr lang="en-IN" sz="2000" dirty="0">
              <a:latin typeface="Consolas" pitchFamily="49" charset="0"/>
              <a:cs typeface="Consolas" pitchFamily="49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else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IN" sz="2000" b="1" dirty="0">
                <a:latin typeface="Consolas" pitchFamily="49" charset="0"/>
                <a:cs typeface="Consolas" pitchFamily="49" charset="0"/>
              </a:rPr>
              <a:t>for</a:t>
            </a:r>
            <a:r>
              <a:rPr lang="en-IN" sz="2000" dirty="0">
                <a:latin typeface="Consolas" pitchFamily="49" charset="0"/>
                <a:cs typeface="Consolas" pitchFamily="49" charset="0"/>
              </a:rPr>
              <a:t> k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h to mid </a:t>
            </a:r>
            <a:r>
              <a:rPr lang="en-IN" sz="2000" b="1" dirty="0">
                <a:latin typeface="Consolas" pitchFamily="49" charset="0"/>
                <a:cs typeface="Consolas" pitchFamily="49" charset="0"/>
                <a:sym typeface="Wingdings" pitchFamily="2" charset="2"/>
              </a:rPr>
              <a:t>do</a:t>
            </a:r>
            <a:endParaRPr lang="en-IN" sz="2000" b="1" dirty="0">
              <a:latin typeface="Consolas" pitchFamily="49" charset="0"/>
              <a:cs typeface="Consolas" pitchFamily="49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  		b[i]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a[k];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		i  i+1;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   </a:t>
            </a:r>
            <a:r>
              <a:rPr lang="en-IN" sz="2000" b="1" dirty="0">
                <a:latin typeface="Consolas" pitchFamily="49" charset="0"/>
                <a:cs typeface="Consolas" pitchFamily="49" charset="0"/>
                <a:sym typeface="Wingdings" pitchFamily="2" charset="2"/>
              </a:rPr>
              <a:t>end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b="1" dirty="0">
                <a:latin typeface="Consolas" pitchFamily="49" charset="0"/>
                <a:cs typeface="Consolas" pitchFamily="49" charset="0"/>
                <a:sym typeface="Wingdings" pitchFamily="2" charset="2"/>
              </a:rPr>
              <a:t>end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[copy merged array back to a[] ]</a:t>
            </a:r>
            <a:endParaRPr lang="en-IN" sz="2000" dirty="0"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b="1" dirty="0">
                <a:latin typeface="Consolas" pitchFamily="49" charset="0"/>
                <a:cs typeface="Consolas" pitchFamily="49" charset="0"/>
                <a:sym typeface="Wingdings" pitchFamily="2" charset="2"/>
              </a:rPr>
              <a:t>for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 k  low to high </a:t>
            </a:r>
            <a:r>
              <a:rPr lang="en-IN" sz="2000" b="1" dirty="0">
                <a:latin typeface="Consolas" pitchFamily="49" charset="0"/>
                <a:cs typeface="Consolas" pitchFamily="49" charset="0"/>
                <a:sym typeface="Wingdings" pitchFamily="2" charset="2"/>
              </a:rPr>
              <a:t>do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dirty="0">
                <a:latin typeface="Consolas" pitchFamily="49" charset="0"/>
                <a:cs typeface="Consolas" pitchFamily="49" charset="0"/>
              </a:rPr>
              <a:t>	a[k] </a:t>
            </a:r>
            <a:r>
              <a:rPr lang="en-IN" sz="2000" dirty="0">
                <a:latin typeface="Consolas" pitchFamily="49" charset="0"/>
                <a:cs typeface="Consolas" pitchFamily="49" charset="0"/>
                <a:sym typeface="Wingdings" pitchFamily="2" charset="2"/>
              </a:rPr>
              <a:t> b[k];</a:t>
            </a:r>
            <a:endParaRPr lang="en-IN" sz="2000" dirty="0">
              <a:latin typeface="Consolas" pitchFamily="49" charset="0"/>
              <a:cs typeface="Consolas" pitchFamily="49" charset="0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+mj-lt"/>
              <a:buAutoNum type="arabicPeriod" startAt="17"/>
            </a:pPr>
            <a:r>
              <a:rPr lang="en-IN" sz="2000" b="1" dirty="0">
                <a:latin typeface="Consolas" pitchFamily="49" charset="0"/>
                <a:cs typeface="Consolas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91840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114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C00000"/>
              </a:buClr>
            </a:pPr>
            <a:r>
              <a:rPr lang="en-US" b="1" dirty="0">
                <a:solidFill>
                  <a:srgbClr val="C00000"/>
                </a:solidFill>
              </a:rPr>
              <a:t>Quick sort </a:t>
            </a:r>
            <a:r>
              <a:rPr lang="en-US" dirty="0"/>
              <a:t>is a highly efficient sorting algorithm and is based on </a:t>
            </a:r>
            <a:r>
              <a:rPr lang="en-US" b="1" dirty="0">
                <a:solidFill>
                  <a:srgbClr val="C00000"/>
                </a:solidFill>
              </a:rPr>
              <a:t>partitioning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of array </a:t>
            </a:r>
            <a:r>
              <a:rPr lang="en-US" dirty="0"/>
              <a:t>of data into </a:t>
            </a:r>
            <a:r>
              <a:rPr lang="en-US" b="1" dirty="0">
                <a:solidFill>
                  <a:srgbClr val="C00000"/>
                </a:solidFill>
              </a:rPr>
              <a:t>smaller arrays</a:t>
            </a:r>
            <a:r>
              <a:rPr lang="en-US" dirty="0"/>
              <a:t>.</a:t>
            </a:r>
          </a:p>
          <a:p>
            <a:pPr>
              <a:buClr>
                <a:srgbClr val="C00000"/>
              </a:buClr>
            </a:pPr>
            <a:r>
              <a:rPr lang="en-US" dirty="0"/>
              <a:t>Quick Sort is </a:t>
            </a:r>
            <a:r>
              <a:rPr lang="en-US" b="1" dirty="0">
                <a:solidFill>
                  <a:srgbClr val="C00000"/>
                </a:solidFill>
              </a:rPr>
              <a:t>divide and conquer </a:t>
            </a:r>
            <a:r>
              <a:rPr lang="en-US" dirty="0"/>
              <a:t>algorithm.</a:t>
            </a:r>
          </a:p>
          <a:p>
            <a:pPr>
              <a:buClr>
                <a:srgbClr val="C00000"/>
              </a:buClr>
            </a:pPr>
            <a:r>
              <a:rPr lang="en-US" dirty="0"/>
              <a:t>At each step of the method, the goal is to place a particular record in its final position within the table.</a:t>
            </a:r>
          </a:p>
          <a:p>
            <a:pPr>
              <a:buClr>
                <a:srgbClr val="C00000"/>
              </a:buClr>
            </a:pPr>
            <a:r>
              <a:rPr lang="en-US" dirty="0"/>
              <a:t>In doing so all the records which precedes this record will have smaller keys, while all records that follows it have larger keys.</a:t>
            </a:r>
          </a:p>
          <a:p>
            <a:pPr>
              <a:buClr>
                <a:srgbClr val="C00000"/>
              </a:buClr>
            </a:pPr>
            <a:r>
              <a:rPr lang="en-US" dirty="0"/>
              <a:t>This particular records is </a:t>
            </a:r>
            <a:r>
              <a:rPr lang="en-US" dirty="0">
                <a:solidFill>
                  <a:srgbClr val="C00000"/>
                </a:solidFill>
              </a:rPr>
              <a:t>termed </a:t>
            </a:r>
            <a:r>
              <a:rPr lang="en-US" b="1" dirty="0">
                <a:solidFill>
                  <a:srgbClr val="C00000"/>
                </a:solidFill>
              </a:rPr>
              <a:t>pivot element</a:t>
            </a:r>
            <a:r>
              <a:rPr lang="en-US" dirty="0"/>
              <a:t>.</a:t>
            </a:r>
          </a:p>
          <a:p>
            <a:pPr>
              <a:buClr>
                <a:srgbClr val="C00000"/>
              </a:buClr>
            </a:pPr>
            <a:r>
              <a:rPr lang="en-US" dirty="0"/>
              <a:t>The same process can then be  applied to each of these </a:t>
            </a:r>
            <a:r>
              <a:rPr lang="en-US" dirty="0" err="1"/>
              <a:t>subtables</a:t>
            </a:r>
            <a:r>
              <a:rPr lang="en-US" dirty="0"/>
              <a:t> and repeated until all records are placed in their positions</a:t>
            </a:r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461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many </a:t>
            </a:r>
            <a:r>
              <a:rPr lang="en-US" b="1" dirty="0">
                <a:solidFill>
                  <a:srgbClr val="C00000"/>
                </a:solidFill>
              </a:rPr>
              <a:t>different versions </a:t>
            </a:r>
            <a:r>
              <a:rPr lang="en-US" dirty="0"/>
              <a:t>of Quick Sort </a:t>
            </a:r>
            <a:r>
              <a:rPr lang="en-US" b="1" dirty="0">
                <a:solidFill>
                  <a:srgbClr val="C00000"/>
                </a:solidFill>
              </a:rPr>
              <a:t>that pick pivot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 different ways.</a:t>
            </a:r>
          </a:p>
          <a:p>
            <a:pPr lvl="1"/>
            <a:r>
              <a:rPr lang="en-US" dirty="0"/>
              <a:t>Always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pick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first element as pivot</a:t>
            </a:r>
            <a:r>
              <a:rPr lang="en-US" dirty="0"/>
              <a:t>. (in our case we have consider this version).</a:t>
            </a:r>
          </a:p>
          <a:p>
            <a:pPr lvl="1"/>
            <a:r>
              <a:rPr lang="en-US" dirty="0"/>
              <a:t>Always pick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last element as pivot</a:t>
            </a:r>
            <a:r>
              <a:rPr lang="en-US" dirty="0"/>
              <a:t> (implemented below)</a:t>
            </a:r>
          </a:p>
          <a:p>
            <a:pPr lvl="1"/>
            <a:r>
              <a:rPr lang="en-US" dirty="0"/>
              <a:t>Pick a </a:t>
            </a:r>
            <a:r>
              <a:rPr lang="en-US" b="1" dirty="0">
                <a:solidFill>
                  <a:srgbClr val="C00000"/>
                </a:solidFill>
              </a:rPr>
              <a:t>random element as pivot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Pick </a:t>
            </a:r>
            <a:r>
              <a:rPr lang="en-US" b="1" dirty="0">
                <a:solidFill>
                  <a:srgbClr val="C00000"/>
                </a:solidFill>
              </a:rPr>
              <a:t>median as pivot</a:t>
            </a:r>
            <a:r>
              <a:rPr lang="en-US" dirty="0"/>
              <a:t>.</a:t>
            </a:r>
          </a:p>
          <a:p>
            <a:r>
              <a:rPr lang="en-US" dirty="0"/>
              <a:t>Quick sort partitions an array and then calls itself recursively twice to sort the two resulting sub arrays.</a:t>
            </a:r>
          </a:p>
          <a:p>
            <a:r>
              <a:rPr lang="en-US" dirty="0"/>
              <a:t>This algorithm is quite </a:t>
            </a:r>
            <a:r>
              <a:rPr lang="en-US" b="1" dirty="0">
                <a:solidFill>
                  <a:srgbClr val="C00000"/>
                </a:solidFill>
              </a:rPr>
              <a:t>efficient for large-sized data sets</a:t>
            </a:r>
          </a:p>
          <a:p>
            <a:r>
              <a:rPr lang="en-US" dirty="0"/>
              <a:t>Its </a:t>
            </a:r>
            <a:r>
              <a:rPr lang="en-US" b="1" dirty="0">
                <a:solidFill>
                  <a:srgbClr val="C00000"/>
                </a:solidFill>
              </a:rPr>
              <a:t>worst case time complexity</a:t>
            </a:r>
            <a:r>
              <a:rPr lang="en-US" dirty="0"/>
              <a:t> is of</a:t>
            </a:r>
            <a:r>
              <a:rPr lang="en-US" b="1" dirty="0">
                <a:solidFill>
                  <a:srgbClr val="C00000"/>
                </a:solidFill>
              </a:rPr>
              <a:t> Ο(n</a:t>
            </a:r>
            <a:r>
              <a:rPr lang="en-US" b="1" baseline="30000" dirty="0">
                <a:solidFill>
                  <a:srgbClr val="C00000"/>
                </a:solidFill>
              </a:rPr>
              <a:t>2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dirty="0"/>
              <a:t>, where n is the number of items.</a:t>
            </a:r>
          </a:p>
          <a:p>
            <a:r>
              <a:rPr lang="en-US" dirty="0"/>
              <a:t>Its </a:t>
            </a:r>
            <a:r>
              <a:rPr lang="en-US" b="1" dirty="0">
                <a:solidFill>
                  <a:srgbClr val="C00000"/>
                </a:solidFill>
              </a:rPr>
              <a:t>average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best case time complexity </a:t>
            </a:r>
            <a:r>
              <a:rPr lang="en-US" dirty="0"/>
              <a:t>is of </a:t>
            </a:r>
            <a:r>
              <a:rPr lang="en-US" b="1" dirty="0">
                <a:solidFill>
                  <a:srgbClr val="C00000"/>
                </a:solidFill>
              </a:rPr>
              <a:t>O(n </a:t>
            </a:r>
            <a:r>
              <a:rPr lang="en-US" b="1" dirty="0" err="1">
                <a:solidFill>
                  <a:srgbClr val="C00000"/>
                </a:solidFill>
              </a:rPr>
              <a:t>logn</a:t>
            </a:r>
            <a:r>
              <a:rPr lang="en-US" b="1" dirty="0">
                <a:solidFill>
                  <a:srgbClr val="C00000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183923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5200" y="4981689"/>
            <a:ext cx="533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8600" y="498168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9536" y="498168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7" name="Rectangle 6"/>
          <p:cNvSpPr/>
          <p:nvPr/>
        </p:nvSpPr>
        <p:spPr>
          <a:xfrm>
            <a:off x="5112936" y="498168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6336" y="498168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9736" y="498168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13136" y="498168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46536" y="498168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5200" y="457827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38600" y="457827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9536" y="457827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2936" y="457827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46336" y="457827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9736" y="457827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13136" y="457827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6536" y="457827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98168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05800" y="4981689"/>
            <a:ext cx="533400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457827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05800" y="4578277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61341" y="5748633"/>
            <a:ext cx="42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cxnSp>
        <p:nvCxnSpPr>
          <p:cNvPr id="53" name="Straight Arrow Connector 52"/>
          <p:cNvCxnSpPr>
            <a:stCxn id="51" idx="0"/>
            <a:endCxn id="4" idx="2"/>
          </p:cNvCxnSpPr>
          <p:nvPr/>
        </p:nvCxnSpPr>
        <p:spPr>
          <a:xfrm flipH="1" flipV="1">
            <a:off x="3771901" y="5362689"/>
            <a:ext cx="1999" cy="38594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341497" y="5749081"/>
            <a:ext cx="4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cxnSp>
        <p:nvCxnSpPr>
          <p:cNvPr id="55" name="Straight Arrow Connector 54"/>
          <p:cNvCxnSpPr>
            <a:stCxn id="54" idx="0"/>
          </p:cNvCxnSpPr>
          <p:nvPr/>
        </p:nvCxnSpPr>
        <p:spPr>
          <a:xfrm flipH="1" flipV="1">
            <a:off x="8562476" y="5363137"/>
            <a:ext cx="1998" cy="38594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296381" y="3451414"/>
            <a:ext cx="933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Pivot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Element</a:t>
            </a:r>
          </a:p>
        </p:txBody>
      </p:sp>
      <p:cxnSp>
        <p:nvCxnSpPr>
          <p:cNvPr id="20" name="Straight Arrow Connector 19"/>
          <p:cNvCxnSpPr>
            <a:stCxn id="30" idx="2"/>
            <a:endCxn id="12" idx="0"/>
          </p:cNvCxnSpPr>
          <p:nvPr/>
        </p:nvCxnSpPr>
        <p:spPr>
          <a:xfrm>
            <a:off x="3763016" y="4097745"/>
            <a:ext cx="8885" cy="480533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36000" y="789381"/>
            <a:ext cx="11520000" cy="461665"/>
          </a:xfrm>
          <a:prstGeom prst="rect">
            <a:avLst/>
          </a:prstGeom>
          <a:ln>
            <a:solidFill>
              <a:srgbClr val="B8474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Sort Following Array using Quick Sort Algorithm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6000" y="1401217"/>
            <a:ext cx="11520000" cy="83099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We are considering </a:t>
            </a:r>
            <a:r>
              <a:rPr lang="en-US" sz="2400" b="1" dirty="0">
                <a:solidFill>
                  <a:srgbClr val="C00000"/>
                </a:solidFill>
              </a:rPr>
              <a:t>first element as pivot element</a:t>
            </a:r>
            <a:r>
              <a:rPr lang="en-US" sz="2400" dirty="0"/>
              <a:t>, so </a:t>
            </a:r>
            <a:r>
              <a:rPr lang="en-US" sz="2400" b="1" dirty="0">
                <a:solidFill>
                  <a:srgbClr val="C00000"/>
                </a:solidFill>
              </a:rPr>
              <a:t>Lower bound </a:t>
            </a:r>
            <a:r>
              <a:rPr lang="en-US" sz="2400" dirty="0"/>
              <a:t>is </a:t>
            </a:r>
            <a:r>
              <a:rPr lang="en-US" sz="2400" b="1" dirty="0">
                <a:solidFill>
                  <a:srgbClr val="C00000"/>
                </a:solidFill>
              </a:rPr>
              <a:t>First Index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Upper bound </a:t>
            </a:r>
            <a:r>
              <a:rPr lang="en-US" sz="2400" dirty="0"/>
              <a:t>is </a:t>
            </a:r>
            <a:r>
              <a:rPr lang="en-US" sz="2400" b="1" dirty="0">
                <a:solidFill>
                  <a:srgbClr val="C00000"/>
                </a:solidFill>
              </a:rPr>
              <a:t>Last Index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6000" y="2391817"/>
            <a:ext cx="11520000" cy="83099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We need to find our proper position of Pivot element in sorted array and perform same operations recursively  for two sub array</a:t>
            </a:r>
          </a:p>
        </p:txBody>
      </p:sp>
    </p:spTree>
    <p:extLst>
      <p:ext uri="{BB962C8B-B14F-4D97-AF65-F5344CB8AC3E}">
        <p14:creationId xmlns:p14="http://schemas.microsoft.com/office/powerpoint/2010/main" val="16237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5" grpId="0" animBg="1"/>
      <p:bldP spid="26" grpId="0" animBg="1"/>
      <p:bldP spid="27" grpId="0" animBg="1"/>
      <p:bldP spid="28" grpId="0" animBg="1"/>
      <p:bldP spid="51" grpId="0"/>
      <p:bldP spid="54" grpId="0"/>
      <p:bldP spid="30" grpId="0"/>
      <p:bldP spid="3" grpId="0" animBg="1"/>
      <p:bldP spid="21" grpId="0" animBg="1"/>
      <p:bldP spid="2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0600" y="14702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0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874936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8336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1736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9" name="Rectangle 8"/>
          <p:cNvSpPr/>
          <p:nvPr/>
        </p:nvSpPr>
        <p:spPr>
          <a:xfrm>
            <a:off x="7475136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8536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1936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34000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74936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8336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1736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5136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8536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1936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67800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4702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7800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1066800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7918" y="823858"/>
            <a:ext cx="4528801" cy="56323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pt-BR" sz="2000" dirty="0">
                <a:latin typeface="Consolas" pitchFamily="49" charset="0"/>
                <a:cs typeface="Consolas" pitchFamily="49" charset="0"/>
              </a:rPr>
              <a:t>FLAG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 true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IF  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LB &lt; UB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Then 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  LB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J  UB + 1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KEY  K[LB]</a:t>
            </a:r>
          </a:p>
          <a:p>
            <a:r>
              <a:rPr lang="pt-BR" sz="20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Repeat While FLAG = true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I  I+1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Repeat While K[I] &lt; KEY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I  I + 1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J  J –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Repeat While K[J] &gt; KEY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J  J –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IF   I&lt;J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Then K[I] --- K[J]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Else FLAG  FALSE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K[LB] --- K[J]</a:t>
            </a:r>
            <a:endParaRPr lang="pt-BR" sz="20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76719" y="4692157"/>
            <a:ext cx="1481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LB = 0, UB = 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76719" y="507315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I=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7037" y="5073157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6719" y="537162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J=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77037" y="5371625"/>
            <a:ext cx="48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4729" y="4700178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KEY = 42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4901517" y="1754960"/>
            <a:ext cx="311304" cy="443173"/>
            <a:chOff x="3701591" y="1754959"/>
            <a:chExt cx="311304" cy="443173"/>
          </a:xfrm>
        </p:grpSpPr>
        <p:sp>
          <p:nvSpPr>
            <p:cNvPr id="32" name="TextBox 31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10204296" y="1812100"/>
            <a:ext cx="311304" cy="443173"/>
            <a:chOff x="3701591" y="1754959"/>
            <a:chExt cx="311304" cy="443173"/>
          </a:xfrm>
        </p:grpSpPr>
        <p:sp>
          <p:nvSpPr>
            <p:cNvPr id="37" name="TextBox 36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J</a:t>
              </a: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9" name="TextBox 38"/>
          <p:cNvSpPr txBox="1"/>
          <p:nvPr/>
        </p:nvSpPr>
        <p:spPr>
          <a:xfrm>
            <a:off x="4676719" y="5691145"/>
            <a:ext cx="787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FLAG=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1942" y="5681899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600" y="26894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34000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74936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8336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1736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75136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08536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41936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67800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01200" y="26894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5445048" y="2979812"/>
            <a:ext cx="311304" cy="443173"/>
            <a:chOff x="3701591" y="1754959"/>
            <a:chExt cx="311304" cy="443173"/>
          </a:xfrm>
        </p:grpSpPr>
        <p:sp>
          <p:nvSpPr>
            <p:cNvPr id="52" name="TextBox 51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4" name="Group 53"/>
          <p:cNvGrpSpPr/>
          <p:nvPr/>
        </p:nvGrpSpPr>
        <p:grpSpPr>
          <a:xfrm>
            <a:off x="9726431" y="2976958"/>
            <a:ext cx="311304" cy="443173"/>
            <a:chOff x="3701591" y="1754959"/>
            <a:chExt cx="311304" cy="443173"/>
          </a:xfrm>
        </p:grpSpPr>
        <p:sp>
          <p:nvSpPr>
            <p:cNvPr id="55" name="TextBox 54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J</a:t>
              </a:r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7" name="Rectangle 56"/>
          <p:cNvSpPr/>
          <p:nvPr/>
        </p:nvSpPr>
        <p:spPr>
          <a:xfrm>
            <a:off x="5874936" y="2689412"/>
            <a:ext cx="533400" cy="2823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41936" y="2689412"/>
            <a:ext cx="533400" cy="2823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59" name="Freeform 58"/>
          <p:cNvSpPr/>
          <p:nvPr/>
        </p:nvSpPr>
        <p:spPr>
          <a:xfrm flipV="1">
            <a:off x="6125183" y="2427058"/>
            <a:ext cx="2690100" cy="244806"/>
          </a:xfrm>
          <a:custGeom>
            <a:avLst/>
            <a:gdLst>
              <a:gd name="connsiteX0" fmla="*/ 0 w 2743200"/>
              <a:gd name="connsiteY0" fmla="*/ 0 h 204281"/>
              <a:gd name="connsiteX1" fmla="*/ 0 w 2743200"/>
              <a:gd name="connsiteY1" fmla="*/ 204281 h 204281"/>
              <a:gd name="connsiteX2" fmla="*/ 2743200 w 2743200"/>
              <a:gd name="connsiteY2" fmla="*/ 204281 h 204281"/>
              <a:gd name="connsiteX3" fmla="*/ 2743200 w 2743200"/>
              <a:gd name="connsiteY3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04281">
                <a:moveTo>
                  <a:pt x="0" y="0"/>
                </a:moveTo>
                <a:lnTo>
                  <a:pt x="0" y="204281"/>
                </a:lnTo>
                <a:lnTo>
                  <a:pt x="2743200" y="204281"/>
                </a:lnTo>
                <a:lnTo>
                  <a:pt x="2743200" y="0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7172331" y="2381656"/>
            <a:ext cx="642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00600" y="3922639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34000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4936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8336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41736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75136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08536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41936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67800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01200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5954298" y="4205028"/>
            <a:ext cx="311304" cy="443173"/>
            <a:chOff x="3701591" y="1754959"/>
            <a:chExt cx="311304" cy="443173"/>
          </a:xfrm>
        </p:grpSpPr>
        <p:sp>
          <p:nvSpPr>
            <p:cNvPr id="72" name="TextBox 71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</a:p>
          </p:txBody>
        </p:sp>
        <p:cxnSp>
          <p:nvCxnSpPr>
            <p:cNvPr id="73" name="Straight Arrow Connector 72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4" name="Group 73"/>
          <p:cNvGrpSpPr/>
          <p:nvPr/>
        </p:nvGrpSpPr>
        <p:grpSpPr>
          <a:xfrm>
            <a:off x="8652984" y="4205028"/>
            <a:ext cx="311304" cy="443173"/>
            <a:chOff x="3701591" y="1754959"/>
            <a:chExt cx="311304" cy="443173"/>
          </a:xfrm>
        </p:grpSpPr>
        <p:sp>
          <p:nvSpPr>
            <p:cNvPr id="75" name="TextBox 74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J</a:t>
              </a:r>
            </a:p>
          </p:txBody>
        </p:sp>
        <p:cxnSp>
          <p:nvCxnSpPr>
            <p:cNvPr id="76" name="Straight Arrow Connector 75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0" name="Rectangle 79"/>
          <p:cNvSpPr/>
          <p:nvPr/>
        </p:nvSpPr>
        <p:spPr>
          <a:xfrm>
            <a:off x="6408336" y="3922639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00600" y="3922639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82" name="Freeform 81"/>
          <p:cNvSpPr/>
          <p:nvPr/>
        </p:nvSpPr>
        <p:spPr>
          <a:xfrm flipV="1">
            <a:off x="5032468" y="3671407"/>
            <a:ext cx="1673133" cy="244806"/>
          </a:xfrm>
          <a:custGeom>
            <a:avLst/>
            <a:gdLst>
              <a:gd name="connsiteX0" fmla="*/ 0 w 2743200"/>
              <a:gd name="connsiteY0" fmla="*/ 0 h 204281"/>
              <a:gd name="connsiteX1" fmla="*/ 0 w 2743200"/>
              <a:gd name="connsiteY1" fmla="*/ 204281 h 204281"/>
              <a:gd name="connsiteX2" fmla="*/ 2743200 w 2743200"/>
              <a:gd name="connsiteY2" fmla="*/ 204281 h 204281"/>
              <a:gd name="connsiteX3" fmla="*/ 2743200 w 2743200"/>
              <a:gd name="connsiteY3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04281">
                <a:moveTo>
                  <a:pt x="0" y="0"/>
                </a:moveTo>
                <a:lnTo>
                  <a:pt x="0" y="204281"/>
                </a:lnTo>
                <a:lnTo>
                  <a:pt x="2743200" y="204281"/>
                </a:lnTo>
                <a:lnTo>
                  <a:pt x="2743200" y="0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5550056" y="3621256"/>
            <a:ext cx="642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Swap</a:t>
            </a:r>
          </a:p>
        </p:txBody>
      </p:sp>
    </p:spTree>
    <p:extLst>
      <p:ext uri="{BB962C8B-B14F-4D97-AF65-F5344CB8AC3E}">
        <p14:creationId xmlns:p14="http://schemas.microsoft.com/office/powerpoint/2010/main" val="3940501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33333E-6 L 0.04571 3.33333E-6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3.7037E-6 L -0.04492 -3.7037E-6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492 -3.7037E-6 L -0.0875 -3.7037E-6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3.7037E-7 L 0.0474 -3.7037E-7 " pathEditMode="relative" rAng="0" ptsTypes="AA">
                                      <p:cBhvr>
                                        <p:cTn id="162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7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4 -3.7037E-7 L 0.08998 -3.7037E-7 " pathEditMode="relative" rAng="0" ptsTypes="AA">
                                      <p:cBhvr>
                                        <p:cTn id="166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4 -3.7037E-7 L -0.04258 -3.7037E-7 " pathEditMode="relative" rAng="0" ptsTypes="AA">
                                      <p:cBhvr>
                                        <p:cTn id="170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258 -3.7037E-7 L -0.08671 -3.7037E-7 " pathEditMode="relative" rAng="0" ptsTypes="AA">
                                      <p:cBhvr>
                                        <p:cTn id="174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672 -3.7037E-7 L -0.13425 -3.7037E-7 " pathEditMode="relative" rAng="0" ptsTypes="AA">
                                      <p:cBhvr>
                                        <p:cTn id="178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138 -3.7037E-7 L -0.17396 2.96296E-6 " pathEditMode="relative" rAng="0" ptsTypes="AA">
                                      <p:cBhvr>
                                        <p:cTn id="182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57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7" grpId="0"/>
      <p:bldP spid="28" grpId="0"/>
      <p:bldP spid="29" grpId="0"/>
      <p:bldP spid="30" grpId="0"/>
      <p:bldP spid="31" grpId="0"/>
      <p:bldP spid="39" grpId="0"/>
      <p:bldP spid="40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7" grpId="0" animBg="1"/>
      <p:bldP spid="58" grpId="0" animBg="1"/>
      <p:bldP spid="59" grpId="0" animBg="1"/>
      <p:bldP spid="60" grpId="0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80" grpId="0" animBg="1"/>
      <p:bldP spid="81" grpId="0" animBg="1"/>
      <p:bldP spid="82" grpId="0" animBg="1"/>
      <p:bldP spid="8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114" y="861641"/>
            <a:ext cx="4560605" cy="56323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pt-BR" sz="2000" dirty="0">
                <a:latin typeface="Consolas" pitchFamily="49" charset="0"/>
                <a:cs typeface="Consolas" pitchFamily="49" charset="0"/>
              </a:rPr>
              <a:t>FLAG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 true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IF  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LB &lt; UB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Then 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  LB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J  UB + 1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KEY  K[LB]</a:t>
            </a:r>
          </a:p>
          <a:p>
            <a:r>
              <a:rPr lang="pt-BR" sz="20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Repeat While FLAG = true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I  I+1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Repeat While K[I] &lt; KEY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I  I + 1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J  J –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Repeat While K[J] &gt; KEY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J  J –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IF   I&lt;J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Then K[I] --- K[J]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Else FLAG  FALSE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K[LB] --- K[J]</a:t>
            </a:r>
            <a:endParaRPr lang="pt-BR" sz="20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24674" y="21102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58074" y="21102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010" y="21102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8" name="Rectangle 7"/>
          <p:cNvSpPr/>
          <p:nvPr/>
        </p:nvSpPr>
        <p:spPr>
          <a:xfrm>
            <a:off x="6732410" y="21102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5810" y="21102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99210" y="21102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32610" y="21102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6010" y="21102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4674" y="1706886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58074" y="1706886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010" y="1706886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32410" y="1706886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5810" y="1706886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99210" y="1706886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32610" y="1706886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6010" y="1706886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1874" y="21102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5274" y="21102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91874" y="1706886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5274" y="1706886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8817" y="1219206"/>
            <a:ext cx="42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6385" y="1219206"/>
            <a:ext cx="4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6732410" y="1173486"/>
            <a:ext cx="0" cy="914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7239000" y="1173486"/>
            <a:ext cx="0" cy="9368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105400" y="270176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8800" y="270176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9736" y="270176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5215127" y="3006562"/>
            <a:ext cx="311304" cy="602827"/>
            <a:chOff x="3701591" y="1754960"/>
            <a:chExt cx="311304" cy="602827"/>
          </a:xfrm>
        </p:grpSpPr>
        <p:sp>
          <p:nvSpPr>
            <p:cNvPr id="40" name="TextBox 39"/>
            <p:cNvSpPr txBox="1"/>
            <p:nvPr/>
          </p:nvSpPr>
          <p:spPr>
            <a:xfrm>
              <a:off x="3701591" y="198845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</a:p>
          </p:txBody>
        </p:sp>
        <p:cxnSp>
          <p:nvCxnSpPr>
            <p:cNvPr id="41" name="Straight Arrow Connector 40"/>
            <p:cNvCxnSpPr>
              <a:stCxn id="40" idx="0"/>
            </p:cNvCxnSpPr>
            <p:nvPr/>
          </p:nvCxnSpPr>
          <p:spPr>
            <a:xfrm flipV="1">
              <a:off x="3857243" y="1754960"/>
              <a:ext cx="0" cy="233495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6811928" y="3006562"/>
            <a:ext cx="311304" cy="602828"/>
            <a:chOff x="3701591" y="1754960"/>
            <a:chExt cx="311304" cy="602828"/>
          </a:xfrm>
        </p:grpSpPr>
        <p:sp>
          <p:nvSpPr>
            <p:cNvPr id="43" name="TextBox 42"/>
            <p:cNvSpPr txBox="1"/>
            <p:nvPr/>
          </p:nvSpPr>
          <p:spPr>
            <a:xfrm>
              <a:off x="3701591" y="1988456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J</a:t>
              </a:r>
            </a:p>
          </p:txBody>
        </p:sp>
        <p:cxnSp>
          <p:nvCxnSpPr>
            <p:cNvPr id="44" name="Straight Arrow Connector 43"/>
            <p:cNvCxnSpPr>
              <a:stCxn id="43" idx="0"/>
            </p:cNvCxnSpPr>
            <p:nvPr/>
          </p:nvCxnSpPr>
          <p:spPr>
            <a:xfrm flipV="1">
              <a:off x="3857243" y="1754960"/>
              <a:ext cx="0" cy="233496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5" name="Rectangle 44"/>
          <p:cNvSpPr/>
          <p:nvPr/>
        </p:nvSpPr>
        <p:spPr>
          <a:xfrm>
            <a:off x="5105400" y="2701760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05400" y="4131416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38800" y="4131416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9736" y="4131416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13136" y="4131416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46536" y="4131416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9936" y="4131416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13336" y="4131416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46736" y="4131416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72600" y="4131416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06000" y="4131416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5029200" y="3619146"/>
            <a:ext cx="5410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5658074" y="3651804"/>
            <a:ext cx="0" cy="4347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712217" y="3688590"/>
            <a:ext cx="42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2733" y="3682484"/>
            <a:ext cx="4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38800" y="4718604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79736" y="4718604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grpSp>
        <p:nvGrpSpPr>
          <p:cNvPr id="66" name="Group 65"/>
          <p:cNvGrpSpPr/>
          <p:nvPr/>
        </p:nvGrpSpPr>
        <p:grpSpPr>
          <a:xfrm>
            <a:off x="5769122" y="5023405"/>
            <a:ext cx="311304" cy="588313"/>
            <a:chOff x="3701591" y="1754959"/>
            <a:chExt cx="311304" cy="588313"/>
          </a:xfrm>
        </p:grpSpPr>
        <p:sp>
          <p:nvSpPr>
            <p:cNvPr id="67" name="TextBox 66"/>
            <p:cNvSpPr txBox="1"/>
            <p:nvPr/>
          </p:nvSpPr>
          <p:spPr>
            <a:xfrm>
              <a:off x="3701591" y="197394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6775296" y="5023405"/>
            <a:ext cx="311304" cy="588313"/>
            <a:chOff x="3701591" y="1754959"/>
            <a:chExt cx="311304" cy="588313"/>
          </a:xfrm>
        </p:grpSpPr>
        <p:sp>
          <p:nvSpPr>
            <p:cNvPr id="70" name="TextBox 69"/>
            <p:cNvSpPr txBox="1"/>
            <p:nvPr/>
          </p:nvSpPr>
          <p:spPr>
            <a:xfrm>
              <a:off x="3701591" y="197394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J</a:t>
              </a:r>
            </a:p>
          </p:txBody>
        </p:sp>
        <p:cxnSp>
          <p:nvCxnSpPr>
            <p:cNvPr id="71" name="Straight Arrow Connector 70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2" name="Rectangle 71"/>
          <p:cNvSpPr/>
          <p:nvPr/>
        </p:nvSpPr>
        <p:spPr>
          <a:xfrm>
            <a:off x="5638800" y="4718604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05400" y="612137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38800" y="612137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79736" y="6121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13136" y="612137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46536" y="6121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79936" y="6121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13336" y="6121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846736" y="6121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372600" y="6121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06000" y="612137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cxnSp>
        <p:nvCxnSpPr>
          <p:cNvPr id="83" name="Straight Connector 82"/>
          <p:cNvCxnSpPr/>
          <p:nvPr/>
        </p:nvCxnSpPr>
        <p:spPr>
          <a:xfrm>
            <a:off x="5029200" y="5611230"/>
            <a:ext cx="5410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V="1">
            <a:off x="6186754" y="5814678"/>
            <a:ext cx="0" cy="2501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6258492" y="5630012"/>
            <a:ext cx="42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62009" y="5828705"/>
            <a:ext cx="4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79736" y="612137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375948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3.33333E-6 L 0.04284 -3.33333E-6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-3.33333E-6 L -0.04101 -3.33333E-6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101 -3.33333E-6 L -0.08554 -3.33333E-6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815 -3.33333E-6 L -0.13099 -3.33333E-6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11111E-6 L 0.0444 1.11111E-6 " pathEditMode="relative" rAng="0" ptsTypes="AA">
                                      <p:cBhvr>
                                        <p:cTn id="154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1.11111E-6 L -0.03815 1.11111E-6 " pathEditMode="relative" rAng="0" ptsTypes="AA">
                                      <p:cBhvr>
                                        <p:cTn id="158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15 1.11111E-6 L -0.08255 1.11111E-6 " pathEditMode="relative" rAng="0" ptsTypes="AA">
                                      <p:cBhvr>
                                        <p:cTn id="162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33" grpId="0" animBg="1"/>
      <p:bldP spid="34" grpId="0" animBg="1"/>
      <p:bldP spid="35" grpId="0" animBg="1"/>
      <p:bldP spid="45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62" grpId="0"/>
      <p:bldP spid="63" grpId="0"/>
      <p:bldP spid="64" grpId="0" animBg="1"/>
      <p:bldP spid="65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5" grpId="0"/>
      <p:bldP spid="86" grpId="0"/>
      <p:bldP spid="8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3200" y="838200"/>
            <a:ext cx="4473519" cy="56323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pt-BR" sz="2000" dirty="0">
                <a:latin typeface="Consolas" pitchFamily="49" charset="0"/>
                <a:cs typeface="Consolas" pitchFamily="49" charset="0"/>
              </a:rPr>
              <a:t>FLAG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 true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IF  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LB &lt; UB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Then 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  LB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J  UB + 1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KEY  K[LB]</a:t>
            </a:r>
          </a:p>
          <a:p>
            <a:r>
              <a:rPr lang="pt-BR" sz="20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Repeat While FLAG = true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I  I+1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Repeat While K[I] &lt; KEY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I  I + 1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J  J –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Repeat While K[J] &gt; KEY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J  J –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IF   I&lt;J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Then K[I] --- K[J]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Else FLAG  FALSE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K[LB] --- K[J]</a:t>
            </a:r>
            <a:endParaRPr lang="pt-BR" sz="20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05400" y="16988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8800" y="16988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9736" y="16988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8" name="Rectangle 7"/>
          <p:cNvSpPr/>
          <p:nvPr/>
        </p:nvSpPr>
        <p:spPr>
          <a:xfrm>
            <a:off x="6713136" y="16988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7246536" y="1698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9936" y="1698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13336" y="1698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46736" y="1698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2600" y="1698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0" y="16988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5810" y="128628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99210" y="128628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2610" y="128628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6010" y="128628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91874" y="128628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5274" y="1286282"/>
            <a:ext cx="5334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9953" y="989024"/>
            <a:ext cx="42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2429" y="937274"/>
            <a:ext cx="4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7246536" y="1066800"/>
            <a:ext cx="0" cy="5649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172200" y="25908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05600" y="25908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39000" y="25908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25908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98264" y="25908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31664" y="25908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6287235" y="2906642"/>
            <a:ext cx="311304" cy="443173"/>
            <a:chOff x="3701591" y="1754959"/>
            <a:chExt cx="311304" cy="443173"/>
          </a:xfrm>
        </p:grpSpPr>
        <p:sp>
          <p:nvSpPr>
            <p:cNvPr id="36" name="TextBox 35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9518496" y="2906642"/>
            <a:ext cx="311304" cy="443173"/>
            <a:chOff x="3701591" y="1754959"/>
            <a:chExt cx="311304" cy="443173"/>
          </a:xfrm>
        </p:grpSpPr>
        <p:sp>
          <p:nvSpPr>
            <p:cNvPr id="39" name="TextBox 38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J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1" name="Rectangle 40"/>
          <p:cNvSpPr/>
          <p:nvPr/>
        </p:nvSpPr>
        <p:spPr>
          <a:xfrm>
            <a:off x="6172200" y="2590800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05600" y="2590800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2590800"/>
            <a:ext cx="533400" cy="2823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44" name="Freeform 43"/>
          <p:cNvSpPr/>
          <p:nvPr/>
        </p:nvSpPr>
        <p:spPr>
          <a:xfrm flipV="1">
            <a:off x="6464802" y="2303107"/>
            <a:ext cx="516191" cy="271046"/>
          </a:xfrm>
          <a:custGeom>
            <a:avLst/>
            <a:gdLst>
              <a:gd name="connsiteX0" fmla="*/ 0 w 2743200"/>
              <a:gd name="connsiteY0" fmla="*/ 0 h 204281"/>
              <a:gd name="connsiteX1" fmla="*/ 0 w 2743200"/>
              <a:gd name="connsiteY1" fmla="*/ 204281 h 204281"/>
              <a:gd name="connsiteX2" fmla="*/ 2743200 w 2743200"/>
              <a:gd name="connsiteY2" fmla="*/ 204281 h 204281"/>
              <a:gd name="connsiteX3" fmla="*/ 2743200 w 2743200"/>
              <a:gd name="connsiteY3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04281">
                <a:moveTo>
                  <a:pt x="0" y="0"/>
                </a:moveTo>
                <a:lnTo>
                  <a:pt x="0" y="204281"/>
                </a:lnTo>
                <a:lnTo>
                  <a:pt x="2743200" y="204281"/>
                </a:lnTo>
                <a:lnTo>
                  <a:pt x="2743200" y="0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6400801" y="2001878"/>
            <a:ext cx="642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9736" y="36576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46536" y="36576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9936" y="36576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05800" y="36576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39200" y="36576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79736" y="3657600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9736" y="3657600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05600" y="3657600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05400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38800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79736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13136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39000" y="4670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72400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05800" y="4670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839200" y="4670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65064" y="4670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898464" y="4670612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39000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39000" y="4670612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26343" y="3124200"/>
            <a:ext cx="42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31222" y="3344173"/>
            <a:ext cx="4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79736" y="3657600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79217" y="4267200"/>
            <a:ext cx="42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15619" y="4267200"/>
            <a:ext cx="4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8305800" y="4331732"/>
            <a:ext cx="0" cy="2733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20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48148E-6 L 0.04322 1.48148E-6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322 1.48148E-6 L 0.08528 1.48148E-6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9.62229E-17 1.48148E-6 L -0.0474 1.48148E-6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74 1.48148E-6 L -0.08919 1.48148E-6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919 1.48148E-6 L -0.13203 1.48148E-6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203 1.48148E-6 L -0.1776 1.48148E-6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982 1.48148E-6 L -0.21628 1.48148E-6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41" grpId="0" animBg="1"/>
      <p:bldP spid="42" grpId="0" animBg="1"/>
      <p:bldP spid="43" grpId="0" animBg="1"/>
      <p:bldP spid="44" grpId="0" animBg="1"/>
      <p:bldP spid="45" grpId="0"/>
      <p:bldP spid="46" grpId="0" animBg="1"/>
      <p:bldP spid="48" grpId="0" animBg="1"/>
      <p:bldP spid="49" grpId="0" animBg="1"/>
      <p:bldP spid="50" grpId="0" animBg="1"/>
      <p:bldP spid="51" grpId="0" animBg="1"/>
      <p:bldP spid="58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8" grpId="0"/>
      <p:bldP spid="79" grpId="0"/>
      <p:bldP spid="80" grpId="0" animBg="1"/>
      <p:bldP spid="81" grpId="0"/>
      <p:bldP spid="8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433786" y="2181837"/>
            <a:ext cx="311304" cy="443173"/>
            <a:chOff x="3701591" y="1754959"/>
            <a:chExt cx="311304" cy="443173"/>
          </a:xfrm>
        </p:grpSpPr>
        <p:sp>
          <p:nvSpPr>
            <p:cNvPr id="5" name="TextBox 4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" name="Freeform 6"/>
          <p:cNvSpPr/>
          <p:nvPr/>
        </p:nvSpPr>
        <p:spPr>
          <a:xfrm flipV="1">
            <a:off x="7593758" y="2563327"/>
            <a:ext cx="1058304" cy="271046"/>
          </a:xfrm>
          <a:custGeom>
            <a:avLst/>
            <a:gdLst>
              <a:gd name="connsiteX0" fmla="*/ 0 w 2743200"/>
              <a:gd name="connsiteY0" fmla="*/ 0 h 204281"/>
              <a:gd name="connsiteX1" fmla="*/ 0 w 2743200"/>
              <a:gd name="connsiteY1" fmla="*/ 204281 h 204281"/>
              <a:gd name="connsiteX2" fmla="*/ 2743200 w 2743200"/>
              <a:gd name="connsiteY2" fmla="*/ 204281 h 204281"/>
              <a:gd name="connsiteX3" fmla="*/ 2743200 w 2743200"/>
              <a:gd name="connsiteY3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04281">
                <a:moveTo>
                  <a:pt x="0" y="0"/>
                </a:moveTo>
                <a:lnTo>
                  <a:pt x="0" y="204281"/>
                </a:lnTo>
                <a:lnTo>
                  <a:pt x="2743200" y="204281"/>
                </a:lnTo>
                <a:lnTo>
                  <a:pt x="2743200" y="0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800029" y="2495831"/>
            <a:ext cx="642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3884" y="18337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48600" y="18337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74464" y="18337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07864" y="18337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9593580" y="2181837"/>
            <a:ext cx="311304" cy="443173"/>
            <a:chOff x="3701591" y="1754959"/>
            <a:chExt cx="311304" cy="443173"/>
          </a:xfrm>
        </p:grpSpPr>
        <p:sp>
          <p:nvSpPr>
            <p:cNvPr id="14" name="TextBox 13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J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139700" y="914400"/>
            <a:ext cx="4537019" cy="56323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pt-BR" sz="2000" dirty="0">
                <a:latin typeface="Consolas" pitchFamily="49" charset="0"/>
                <a:cs typeface="Consolas" pitchFamily="49" charset="0"/>
              </a:rPr>
              <a:t>FLAG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 true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IF  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LB &lt; UB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Then </a:t>
            </a:r>
          </a:p>
          <a:p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</a:t>
            </a:r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  LB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J  UB + 1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KEY  K[LB]</a:t>
            </a:r>
          </a:p>
          <a:p>
            <a:r>
              <a:rPr lang="pt-BR" sz="2000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Repeat While FLAG = true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I  I+1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Repeat While K[I] &lt; KEY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I  I + 1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J  J –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  <a:r>
              <a:rPr lang="pt-BR" sz="2000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Repeat While K[J] &gt; KEY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J  J – 1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IF   I&lt;J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Then K[I] --- K[J]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Else FLAG  FALSE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</a:t>
            </a:r>
          </a:p>
          <a:p>
            <a:r>
              <a:rPr lang="pt-BR" sz="2000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K[LB] --- K[J]</a:t>
            </a:r>
            <a:endParaRPr lang="pt-BR" sz="20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51587" y="1201786"/>
            <a:ext cx="4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26387" y="1277986"/>
            <a:ext cx="42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3884" y="18337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4464" y="1833798"/>
            <a:ext cx="533400" cy="2823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7864" y="1833798"/>
            <a:ext cx="533400" cy="28238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824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49916" y="2824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75780" y="2824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9180" y="2824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824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8485512" y="3140867"/>
            <a:ext cx="311304" cy="443173"/>
            <a:chOff x="3701591" y="1754959"/>
            <a:chExt cx="311304" cy="443173"/>
          </a:xfrm>
        </p:grpSpPr>
        <p:sp>
          <p:nvSpPr>
            <p:cNvPr id="30" name="TextBox 29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9046056" y="3140867"/>
            <a:ext cx="311304" cy="443173"/>
            <a:chOff x="3701591" y="1754959"/>
            <a:chExt cx="311304" cy="443173"/>
          </a:xfrm>
        </p:grpSpPr>
        <p:sp>
          <p:nvSpPr>
            <p:cNvPr id="33" name="TextBox 32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J</a:t>
              </a:r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7" name="Rectangle 36"/>
          <p:cNvSpPr/>
          <p:nvPr/>
        </p:nvSpPr>
        <p:spPr>
          <a:xfrm>
            <a:off x="7315200" y="2824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75780" y="2824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sp>
        <p:nvSpPr>
          <p:cNvPr id="41" name="Freeform 40"/>
          <p:cNvSpPr/>
          <p:nvPr/>
        </p:nvSpPr>
        <p:spPr>
          <a:xfrm flipV="1">
            <a:off x="8619096" y="1518984"/>
            <a:ext cx="601104" cy="271046"/>
          </a:xfrm>
          <a:custGeom>
            <a:avLst/>
            <a:gdLst>
              <a:gd name="connsiteX0" fmla="*/ 0 w 2743200"/>
              <a:gd name="connsiteY0" fmla="*/ 0 h 204281"/>
              <a:gd name="connsiteX1" fmla="*/ 0 w 2743200"/>
              <a:gd name="connsiteY1" fmla="*/ 204281 h 204281"/>
              <a:gd name="connsiteX2" fmla="*/ 2743200 w 2743200"/>
              <a:gd name="connsiteY2" fmla="*/ 204281 h 204281"/>
              <a:gd name="connsiteX3" fmla="*/ 2743200 w 2743200"/>
              <a:gd name="connsiteY3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04281">
                <a:moveTo>
                  <a:pt x="0" y="0"/>
                </a:moveTo>
                <a:lnTo>
                  <a:pt x="0" y="204281"/>
                </a:lnTo>
                <a:lnTo>
                  <a:pt x="2743200" y="204281"/>
                </a:lnTo>
                <a:lnTo>
                  <a:pt x="2743200" y="0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8619097" y="1462857"/>
            <a:ext cx="642227" cy="338554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43" name="Freeform 42"/>
          <p:cNvSpPr/>
          <p:nvPr/>
        </p:nvSpPr>
        <p:spPr>
          <a:xfrm flipV="1">
            <a:off x="7450720" y="4063438"/>
            <a:ext cx="626481" cy="271046"/>
          </a:xfrm>
          <a:custGeom>
            <a:avLst/>
            <a:gdLst>
              <a:gd name="connsiteX0" fmla="*/ 0 w 2743200"/>
              <a:gd name="connsiteY0" fmla="*/ 0 h 204281"/>
              <a:gd name="connsiteX1" fmla="*/ 0 w 2743200"/>
              <a:gd name="connsiteY1" fmla="*/ 204281 h 204281"/>
              <a:gd name="connsiteX2" fmla="*/ 2743200 w 2743200"/>
              <a:gd name="connsiteY2" fmla="*/ 204281 h 204281"/>
              <a:gd name="connsiteX3" fmla="*/ 2743200 w 2743200"/>
              <a:gd name="connsiteY3" fmla="*/ 0 h 20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204281">
                <a:moveTo>
                  <a:pt x="0" y="0"/>
                </a:moveTo>
                <a:lnTo>
                  <a:pt x="0" y="204281"/>
                </a:lnTo>
                <a:lnTo>
                  <a:pt x="2743200" y="204281"/>
                </a:lnTo>
                <a:lnTo>
                  <a:pt x="2743200" y="0"/>
                </a:lnTo>
              </a:path>
            </a:pathLst>
          </a:custGeom>
          <a:ln w="28575">
            <a:solidFill>
              <a:srgbClr val="B84742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7454367" y="4018951"/>
            <a:ext cx="642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Swap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3716" y="4348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39000" y="4348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05405" y="3563986"/>
            <a:ext cx="44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0274" y="3563986"/>
            <a:ext cx="425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LB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7327179" y="4658398"/>
            <a:ext cx="311304" cy="443173"/>
            <a:chOff x="3701591" y="1754959"/>
            <a:chExt cx="311304" cy="443173"/>
          </a:xfrm>
        </p:grpSpPr>
        <p:sp>
          <p:nvSpPr>
            <p:cNvPr id="55" name="TextBox 54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8395819" y="4658398"/>
            <a:ext cx="311304" cy="443173"/>
            <a:chOff x="3701591" y="1754959"/>
            <a:chExt cx="311304" cy="443173"/>
          </a:xfrm>
        </p:grpSpPr>
        <p:sp>
          <p:nvSpPr>
            <p:cNvPr id="58" name="TextBox 57"/>
            <p:cNvSpPr txBox="1"/>
            <p:nvPr/>
          </p:nvSpPr>
          <p:spPr>
            <a:xfrm>
              <a:off x="3701591" y="1828800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J</a:t>
              </a:r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 flipV="1">
              <a:off x="3857243" y="1754959"/>
              <a:ext cx="0" cy="150041"/>
            </a:xfrm>
            <a:prstGeom prst="straightConnector1">
              <a:avLst/>
            </a:prstGeom>
            <a:ln w="28575">
              <a:solidFill>
                <a:srgbClr val="B84742"/>
              </a:solidFill>
              <a:headEnd type="none" w="med" len="med"/>
              <a:tailEnd type="arrow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0" name="Rectangle 59"/>
          <p:cNvSpPr/>
          <p:nvPr/>
        </p:nvSpPr>
        <p:spPr>
          <a:xfrm>
            <a:off x="7239000" y="4348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39000" y="4348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3716" y="4348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4826000" y="3563986"/>
            <a:ext cx="684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8839200" y="4348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05800" y="4348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8305800" y="3658155"/>
            <a:ext cx="0" cy="5773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4826000" y="5240386"/>
            <a:ext cx="684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8509000" y="5872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43716" y="5872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109200" y="5872398"/>
            <a:ext cx="533400" cy="2823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75800" y="5872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94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8537797" y="5284321"/>
            <a:ext cx="445955" cy="633927"/>
            <a:chOff x="5743796" y="4996934"/>
            <a:chExt cx="445955" cy="633927"/>
          </a:xfrm>
        </p:grpSpPr>
        <p:sp>
          <p:nvSpPr>
            <p:cNvPr id="70" name="TextBox 69"/>
            <p:cNvSpPr txBox="1"/>
            <p:nvPr/>
          </p:nvSpPr>
          <p:spPr>
            <a:xfrm>
              <a:off x="5754216" y="4996934"/>
              <a:ext cx="4251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LB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743796" y="5261529"/>
              <a:ext cx="4459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UB</a:t>
              </a:r>
            </a:p>
          </p:txBody>
        </p:sp>
      </p:grpSp>
      <p:cxnSp>
        <p:nvCxnSpPr>
          <p:cNvPr id="72" name="Straight Connector 71"/>
          <p:cNvCxnSpPr/>
          <p:nvPr/>
        </p:nvCxnSpPr>
        <p:spPr>
          <a:xfrm>
            <a:off x="9042400" y="5392786"/>
            <a:ext cx="0" cy="4249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10109200" y="5392786"/>
            <a:ext cx="0" cy="4249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10184519" y="5260439"/>
            <a:ext cx="445955" cy="633927"/>
            <a:chOff x="7390518" y="4973052"/>
            <a:chExt cx="445955" cy="633927"/>
          </a:xfrm>
        </p:grpSpPr>
        <p:sp>
          <p:nvSpPr>
            <p:cNvPr id="74" name="TextBox 73"/>
            <p:cNvSpPr txBox="1"/>
            <p:nvPr/>
          </p:nvSpPr>
          <p:spPr>
            <a:xfrm>
              <a:off x="7400938" y="4973052"/>
              <a:ext cx="4251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LB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390518" y="5237647"/>
              <a:ext cx="4459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UB</a:t>
              </a:r>
            </a:p>
          </p:txBody>
        </p:sp>
      </p:grpSp>
      <p:sp>
        <p:nvSpPr>
          <p:cNvPr id="78" name="Rectangle 77"/>
          <p:cNvSpPr/>
          <p:nvPr/>
        </p:nvSpPr>
        <p:spPr>
          <a:xfrm>
            <a:off x="8509000" y="5872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109200" y="5872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308600" y="5872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842000" y="5872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82936" y="5872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16336" y="5872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75600" y="5872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442200" y="5872398"/>
            <a:ext cx="533400" cy="282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38000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4.81481E-6 L 0.04244 -4.81481E-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245 -4.81481E-6 L 0.08606 -4.81481E-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4.81481E-6 L -0.04336 -4.81481E-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3.7037E-7 L 0.04597 3.7037E-7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7037E-7 L -0.04597 3.7037E-7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4.07407E-6 L 0.04623 4.07407E-6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623 4.07407E-6 L 0.08763 4.07407E-6 " pathEditMode="relative" rAng="0" ptsTypes="AA">
                                      <p:cBhvr>
                                        <p:cTn id="142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4.07407E-6 L -0.04358 4.07407E-6 " pathEditMode="relative" rAng="0" ptsTypes="AA">
                                      <p:cBhvr>
                                        <p:cTn id="146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2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6" grpId="0" animBg="1"/>
      <p:bldP spid="17" grpId="0"/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7" grpId="0" animBg="1"/>
      <p:bldP spid="40" grpId="0" animBg="1"/>
      <p:bldP spid="41" grpId="0" animBg="1"/>
      <p:bldP spid="42" grpId="0"/>
      <p:bldP spid="43" grpId="0" animBg="1"/>
      <p:bldP spid="44" grpId="0"/>
      <p:bldP spid="46" grpId="0" animBg="1"/>
      <p:bldP spid="50" grpId="0" animBg="1"/>
      <p:bldP spid="52" grpId="0"/>
      <p:bldP spid="53" grpId="0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67" grpId="0" animBg="1"/>
      <p:bldP spid="68" grpId="0" animBg="1"/>
      <p:bldP spid="69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5" grpId="0" animBg="1"/>
      <p:bldP spid="8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QUICK_SORT(K,LB,UB)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791" y="849923"/>
            <a:ext cx="5760000" cy="5355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pt-BR" dirty="0">
                <a:latin typeface="Consolas" pitchFamily="49" charset="0"/>
                <a:cs typeface="Consolas" pitchFamily="49" charset="0"/>
              </a:rPr>
              <a:t>1. [Initialize]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   FLAG </a:t>
            </a:r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 true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2. [Perform Sort]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IF   LB &lt; UB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Then I  LB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J  UB + 1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KEY  K[LB]</a:t>
            </a:r>
          </a:p>
          <a:p>
            <a:r>
              <a:rPr lang="pt-BR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</a:t>
            </a:r>
            <a:r>
              <a:rPr lang="pt-BR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Repeat While FLAG = true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  I  I+1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  </a:t>
            </a:r>
            <a:r>
              <a:rPr lang="pt-BR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Repeat While K[I] &lt; KEY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      I  I + 1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  J  J – 1</a:t>
            </a:r>
          </a:p>
          <a:p>
            <a:r>
              <a:rPr lang="pt-BR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  Repeat While K[J] &gt; KEY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      J  J – 1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  </a:t>
            </a:r>
            <a:r>
              <a:rPr lang="pt-BR" b="1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IF   I&lt;J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  Then K[I] --- K[J]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  Else FLAG  FALSE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</a:t>
            </a:r>
            <a:b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</a:br>
            <a:r>
              <a:rPr lang="pt-BR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        </a:t>
            </a:r>
            <a:r>
              <a:rPr lang="pt-BR" b="1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K[LB] --- K[J]</a:t>
            </a:r>
            <a:endParaRPr lang="pt-BR" b="1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53210" y="849923"/>
            <a:ext cx="5760000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CALL QUICK_SORT(K,LB, J-1)</a:t>
            </a:r>
          </a:p>
          <a:p>
            <a:r>
              <a:rPr lang="pt-BR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CALL QUICK_SORT(K,J+1, UB)</a:t>
            </a:r>
          </a:p>
          <a:p>
            <a:endParaRPr lang="pt-BR" dirty="0">
              <a:latin typeface="Consolas" pitchFamily="49" charset="0"/>
              <a:cs typeface="Consolas" pitchFamily="49" charset="0"/>
            </a:endParaRPr>
          </a:p>
          <a:p>
            <a:r>
              <a:rPr lang="pt-BR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3</a:t>
            </a:r>
            <a:r>
              <a:rPr lang="pt-BR" dirty="0">
                <a:latin typeface="Consolas" pitchFamily="49" charset="0"/>
                <a:cs typeface="Consolas" pitchFamily="49" charset="0"/>
                <a:sym typeface="Wingdings" panose="05000000000000000000" pitchFamily="2" charset="2"/>
              </a:rPr>
              <a:t>. [Finished]</a:t>
            </a:r>
          </a:p>
          <a:p>
            <a:r>
              <a:rPr lang="pt-BR" b="1" dirty="0">
                <a:latin typeface="Consolas" pitchFamily="49" charset="0"/>
                <a:cs typeface="Consolas" pitchFamily="49" charset="0"/>
              </a:rPr>
              <a:t> Return</a:t>
            </a:r>
            <a:endParaRPr lang="pt-BR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7852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CF033-744B-9AEE-240B-4B1D2DFCD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08E71-9504-7525-702E-69F1AC3A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Stable Sorting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810A5-E7F4-F6B9-9E2B-DC68DDFE6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A0000"/>
              </a:buClr>
            </a:pPr>
            <a:r>
              <a:rPr lang="en-US" dirty="0"/>
              <a:t>A sorting algorithm is said to be stable </a:t>
            </a:r>
            <a:r>
              <a:rPr lang="en-US" b="1" dirty="0">
                <a:solidFill>
                  <a:srgbClr val="C00000"/>
                </a:solidFill>
              </a:rPr>
              <a:t>if two objects with equal keys </a:t>
            </a:r>
            <a:r>
              <a:rPr lang="en-US" dirty="0"/>
              <a:t>appear in the </a:t>
            </a:r>
            <a:r>
              <a:rPr lang="en-US" b="1" dirty="0">
                <a:solidFill>
                  <a:srgbClr val="C00000"/>
                </a:solidFill>
              </a:rPr>
              <a:t>same order in sorted output </a:t>
            </a:r>
            <a:r>
              <a:rPr lang="en-US" dirty="0"/>
              <a:t>as they appear in the </a:t>
            </a:r>
            <a:r>
              <a:rPr lang="en-US" b="1" dirty="0">
                <a:solidFill>
                  <a:srgbClr val="C00000"/>
                </a:solidFill>
              </a:rPr>
              <a:t>input data set</a:t>
            </a:r>
            <a:r>
              <a:rPr lang="en-US" dirty="0"/>
              <a:t>.</a:t>
            </a:r>
          </a:p>
          <a:p>
            <a:pPr>
              <a:buClr>
                <a:srgbClr val="9A0000"/>
              </a:buClr>
            </a:pPr>
            <a:r>
              <a:rPr lang="en-US" dirty="0"/>
              <a:t>Stable Sorting Algorithms : </a:t>
            </a:r>
          </a:p>
          <a:p>
            <a:pPr lvl="1">
              <a:buClr>
                <a:srgbClr val="9A0000"/>
              </a:buClr>
            </a:pPr>
            <a:r>
              <a:rPr lang="en-US" dirty="0"/>
              <a:t>Bubble Sort</a:t>
            </a:r>
          </a:p>
          <a:p>
            <a:pPr lvl="1">
              <a:buClr>
                <a:srgbClr val="9A0000"/>
              </a:buClr>
            </a:pPr>
            <a:r>
              <a:rPr lang="en-US" dirty="0"/>
              <a:t>Insertion Sort</a:t>
            </a:r>
          </a:p>
          <a:p>
            <a:pPr lvl="1">
              <a:buClr>
                <a:srgbClr val="9A0000"/>
              </a:buClr>
            </a:pPr>
            <a:r>
              <a:rPr lang="en-US" dirty="0"/>
              <a:t>Merge Sort</a:t>
            </a:r>
          </a:p>
          <a:p>
            <a:pPr>
              <a:buClr>
                <a:srgbClr val="9A0000"/>
              </a:buClr>
            </a:pPr>
            <a:r>
              <a:rPr lang="en-US" dirty="0"/>
              <a:t>Unstable Sorting Algorithms : </a:t>
            </a:r>
          </a:p>
          <a:p>
            <a:pPr lvl="1">
              <a:buClr>
                <a:srgbClr val="9A0000"/>
              </a:buClr>
            </a:pPr>
            <a:r>
              <a:rPr lang="en-US" dirty="0"/>
              <a:t>Selection Sort</a:t>
            </a:r>
          </a:p>
          <a:p>
            <a:pPr lvl="1">
              <a:buClr>
                <a:srgbClr val="9A0000"/>
              </a:buClr>
            </a:pPr>
            <a:r>
              <a:rPr lang="en-US" dirty="0"/>
              <a:t>Quick Sort</a:t>
            </a:r>
          </a:p>
          <a:p>
            <a:pPr marL="0" indent="0">
              <a:buClr>
                <a:schemeClr val="tx1"/>
              </a:buCl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8203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40A2D-56EE-A967-41C7-86AAA0E98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9FF57-F059-3421-06C3-00F0BEFF4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Sorting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BFD01-1726-E150-DB81-5F74549FD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A0000"/>
              </a:buClr>
            </a:pPr>
            <a:r>
              <a:rPr lang="en-US" dirty="0"/>
              <a:t>An in-place algorithm is an algorithm that </a:t>
            </a:r>
            <a:r>
              <a:rPr lang="en-US" b="1" dirty="0">
                <a:solidFill>
                  <a:srgbClr val="C00000"/>
                </a:solidFill>
              </a:rPr>
              <a:t>does not need an extra space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produces an output in the same memory</a:t>
            </a:r>
            <a:r>
              <a:rPr lang="en-US" dirty="0"/>
              <a:t> that contains the data by transforming the input 'in-place’.</a:t>
            </a:r>
          </a:p>
          <a:p>
            <a:pPr>
              <a:buClr>
                <a:srgbClr val="9A0000"/>
              </a:buClr>
            </a:pPr>
            <a:r>
              <a:rPr lang="en-US" dirty="0"/>
              <a:t> However, a small constant extra space used for variables is allowed.</a:t>
            </a:r>
          </a:p>
          <a:p>
            <a:pPr>
              <a:buClr>
                <a:srgbClr val="9A0000"/>
              </a:buClr>
            </a:pPr>
            <a:r>
              <a:rPr lang="en-US" dirty="0"/>
              <a:t>In-place Sorting Algorithms : </a:t>
            </a:r>
          </a:p>
          <a:p>
            <a:pPr lvl="1">
              <a:buClr>
                <a:srgbClr val="9A0000"/>
              </a:buClr>
            </a:pPr>
            <a:r>
              <a:rPr lang="en-US" dirty="0"/>
              <a:t>Bubble Sort</a:t>
            </a:r>
          </a:p>
          <a:p>
            <a:pPr lvl="1">
              <a:buClr>
                <a:srgbClr val="9A0000"/>
              </a:buClr>
            </a:pPr>
            <a:r>
              <a:rPr lang="en-US" dirty="0"/>
              <a:t>Selection Sort</a:t>
            </a:r>
          </a:p>
          <a:p>
            <a:pPr lvl="1">
              <a:buClr>
                <a:srgbClr val="9A0000"/>
              </a:buClr>
            </a:pPr>
            <a:r>
              <a:rPr lang="en-US" dirty="0"/>
              <a:t>Insertion Sort</a:t>
            </a:r>
          </a:p>
          <a:p>
            <a:pPr lvl="1">
              <a:buClr>
                <a:srgbClr val="9A0000"/>
              </a:buClr>
            </a:pPr>
            <a:r>
              <a:rPr lang="en-US" dirty="0"/>
              <a:t>Quick Sort</a:t>
            </a:r>
          </a:p>
          <a:p>
            <a:pPr>
              <a:buClr>
                <a:srgbClr val="9A0000"/>
              </a:buClr>
            </a:pPr>
            <a:r>
              <a:rPr lang="en-US" dirty="0"/>
              <a:t>Not-in-place Sorting Algorithm : </a:t>
            </a:r>
          </a:p>
          <a:p>
            <a:pPr lvl="1">
              <a:buClr>
                <a:srgbClr val="9A0000"/>
              </a:buClr>
            </a:pPr>
            <a:r>
              <a:rPr lang="en-US" dirty="0"/>
              <a:t>Merge Sort</a:t>
            </a:r>
          </a:p>
          <a:p>
            <a:pPr marL="0" indent="0">
              <a:buClr>
                <a:schemeClr val="tx1"/>
              </a:buCl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110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0C031-6917-4344-B60E-3D7D3A01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ACCD7-2147-8B64-747D-463653BFB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C56D9-B9F4-9656-7D77-B468113F9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A0000"/>
              </a:buClr>
            </a:pPr>
            <a:r>
              <a:rPr lang="en-US" dirty="0"/>
              <a:t>Internal sorting refers to </a:t>
            </a:r>
            <a:r>
              <a:rPr lang="en-US" b="1" dirty="0">
                <a:solidFill>
                  <a:srgbClr val="C00000"/>
                </a:solidFill>
              </a:rPr>
              <a:t>sorting data that can fit entirely in the main memory </a:t>
            </a:r>
            <a:r>
              <a:rPr lang="en-US" dirty="0"/>
              <a:t>of a computer system. </a:t>
            </a:r>
          </a:p>
          <a:p>
            <a:pPr>
              <a:buClr>
                <a:srgbClr val="9A0000"/>
              </a:buClr>
            </a:pPr>
            <a:r>
              <a:rPr lang="en-US" dirty="0"/>
              <a:t>It involves manipulating the data within the main memory itself and does not require additional external storage devices. </a:t>
            </a:r>
          </a:p>
          <a:p>
            <a:pPr>
              <a:buClr>
                <a:srgbClr val="9A0000"/>
              </a:buClr>
            </a:pPr>
            <a:r>
              <a:rPr lang="en-US" dirty="0"/>
              <a:t>Internal sorting is commonly used when sorting relatively small datasets that can be easily accommodated in the memory.</a:t>
            </a:r>
          </a:p>
        </p:txBody>
      </p:sp>
    </p:spTree>
    <p:extLst>
      <p:ext uri="{BB962C8B-B14F-4D97-AF65-F5344CB8AC3E}">
        <p14:creationId xmlns:p14="http://schemas.microsoft.com/office/powerpoint/2010/main" val="36366408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0A360-9A69-7325-0840-C7EBB194D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B4A0E-17DF-3806-88A7-5B05675C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3D54D-EA3A-2B63-3D07-E8D5A82F3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A0000"/>
              </a:buClr>
            </a:pPr>
            <a:r>
              <a:rPr lang="en-US" dirty="0"/>
              <a:t>External sorting refers to the </a:t>
            </a:r>
            <a:r>
              <a:rPr lang="en-US" b="1" dirty="0">
                <a:solidFill>
                  <a:srgbClr val="C00000"/>
                </a:solidFill>
              </a:rPr>
              <a:t>sorting of data that is too large to fit in the main memory </a:t>
            </a:r>
            <a:r>
              <a:rPr lang="en-US" dirty="0"/>
              <a:t>of a computer system and </a:t>
            </a:r>
            <a:r>
              <a:rPr lang="en-US" b="1" dirty="0">
                <a:solidFill>
                  <a:srgbClr val="C00000"/>
                </a:solidFill>
              </a:rPr>
              <a:t>must be stored on external storage devices</a:t>
            </a:r>
            <a:r>
              <a:rPr lang="en-US" dirty="0"/>
              <a:t>, such as hard drives. </a:t>
            </a:r>
          </a:p>
          <a:p>
            <a:pPr>
              <a:buClr>
                <a:srgbClr val="9A0000"/>
              </a:buClr>
            </a:pPr>
            <a:r>
              <a:rPr lang="en-US" dirty="0"/>
              <a:t>It involves </a:t>
            </a:r>
            <a:r>
              <a:rPr lang="en-US" b="1" dirty="0">
                <a:solidFill>
                  <a:srgbClr val="C00000"/>
                </a:solidFill>
              </a:rPr>
              <a:t>dividing the data into smaller chunks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sorting each chunk individually</a:t>
            </a:r>
            <a:r>
              <a:rPr lang="en-US" dirty="0"/>
              <a:t>, and then </a:t>
            </a:r>
            <a:r>
              <a:rPr lang="en-US" b="1" dirty="0">
                <a:solidFill>
                  <a:srgbClr val="C00000"/>
                </a:solidFill>
              </a:rPr>
              <a:t>merging the sorted chunks </a:t>
            </a:r>
            <a:r>
              <a:rPr lang="en-US" dirty="0"/>
              <a:t>to obtain the </a:t>
            </a:r>
            <a:r>
              <a:rPr lang="en-US" b="1" dirty="0">
                <a:solidFill>
                  <a:srgbClr val="C00000"/>
                </a:solidFill>
              </a:rPr>
              <a:t>final sorted result</a:t>
            </a:r>
            <a:r>
              <a:rPr lang="en-US" dirty="0"/>
              <a:t>. </a:t>
            </a:r>
          </a:p>
          <a:p>
            <a:pPr>
              <a:buClr>
                <a:srgbClr val="9A0000"/>
              </a:buClr>
            </a:pPr>
            <a:r>
              <a:rPr lang="en-US" dirty="0"/>
              <a:t>External sorting is typically used when dealing with significantly large datasets that exceed the available memory capacity.</a:t>
            </a:r>
          </a:p>
          <a:p>
            <a:pPr>
              <a:buClr>
                <a:srgbClr val="9A0000"/>
              </a:buClr>
            </a:pPr>
            <a:r>
              <a:rPr lang="en-US" dirty="0"/>
              <a:t>For example : Sorting 1 TB of log files on a computer with only 16 GB of RAM.</a:t>
            </a:r>
          </a:p>
          <a:p>
            <a:pPr>
              <a:buClr>
                <a:schemeClr val="tx1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854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shruti.maniar@darshan.ac.in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97277 47317 (CE Department)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Shruti Maniar</a:t>
            </a:r>
          </a:p>
        </p:txBody>
      </p:sp>
      <p:sp>
        <p:nvSpPr>
          <p:cNvPr id="9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624" y="5211251"/>
            <a:ext cx="1350943" cy="1359878"/>
          </a:xfrm>
        </p:spPr>
      </p:pic>
    </p:spTree>
    <p:extLst>
      <p:ext uri="{BB962C8B-B14F-4D97-AF65-F5344CB8AC3E}">
        <p14:creationId xmlns:p14="http://schemas.microsoft.com/office/powerpoint/2010/main" val="275626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ptPPT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19567</TotalTime>
  <Words>4316</Words>
  <Application>Microsoft Office PowerPoint</Application>
  <PresentationFormat>Widescreen</PresentationFormat>
  <Paragraphs>1386</Paragraphs>
  <Slides>57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70" baseType="lpstr">
      <vt:lpstr>Open Sans Semibold</vt:lpstr>
      <vt:lpstr>Calibri</vt:lpstr>
      <vt:lpstr>Consolas</vt:lpstr>
      <vt:lpstr>Arial</vt:lpstr>
      <vt:lpstr>Wingdings 3</vt:lpstr>
      <vt:lpstr>Segoe UI Black</vt:lpstr>
      <vt:lpstr>Wingdings 2</vt:lpstr>
      <vt:lpstr>Open Sans</vt:lpstr>
      <vt:lpstr>Roboto Condensed</vt:lpstr>
      <vt:lpstr>Times New Roman</vt:lpstr>
      <vt:lpstr>Wingdings</vt:lpstr>
      <vt:lpstr>Roboto Condensed Light</vt:lpstr>
      <vt:lpstr>Office Theme</vt:lpstr>
      <vt:lpstr>Unit-5  Searching &amp;  Sorting</vt:lpstr>
      <vt:lpstr>PowerPoint Presentation</vt:lpstr>
      <vt:lpstr>Linear Search</vt:lpstr>
      <vt:lpstr>Linear/Sequential Search</vt:lpstr>
      <vt:lpstr>Sequential Search – Algorithm &amp; Example</vt:lpstr>
      <vt:lpstr>Binary Search</vt:lpstr>
      <vt:lpstr>Binary Search</vt:lpstr>
      <vt:lpstr>Binary Search – Algorithm (Iterative Approach)</vt:lpstr>
      <vt:lpstr>Binary Search - Algorithm</vt:lpstr>
      <vt:lpstr>Binary Search - Algorithm</vt:lpstr>
      <vt:lpstr>Binary Search – Algorithm (Recursive Approach)</vt:lpstr>
      <vt:lpstr>Linear Search vs. Binary Search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SELECTION_SORT(K,N)</vt:lpstr>
      <vt:lpstr>SELECTION_SORT(K,N)</vt:lpstr>
      <vt:lpstr>Bubble Sort</vt:lpstr>
      <vt:lpstr>Bubble Sort</vt:lpstr>
      <vt:lpstr>Bubble Sort</vt:lpstr>
      <vt:lpstr>Bubble Sort</vt:lpstr>
      <vt:lpstr>BUBBLE_SORT(K,N)</vt:lpstr>
      <vt:lpstr>Procedure: BUBBLE_SORT (K, N)</vt:lpstr>
      <vt:lpstr>Insertion Sort</vt:lpstr>
      <vt:lpstr>Insertion Sort</vt:lpstr>
      <vt:lpstr>Insertion Sort</vt:lpstr>
      <vt:lpstr>Algorithm : Insertion Sort (A,N)</vt:lpstr>
      <vt:lpstr>Example : Insertion Sort</vt:lpstr>
      <vt:lpstr>Example : Insertion Sort</vt:lpstr>
      <vt:lpstr>Example : Insertion Sort</vt:lpstr>
      <vt:lpstr>Example : Insertion Sort</vt:lpstr>
      <vt:lpstr>Example : Insertion Sort</vt:lpstr>
      <vt:lpstr>Merge Sort</vt:lpstr>
      <vt:lpstr>Merge Sort</vt:lpstr>
      <vt:lpstr>Merge Sort</vt:lpstr>
      <vt:lpstr>Merge Sort</vt:lpstr>
      <vt:lpstr>Merge Sort</vt:lpstr>
      <vt:lpstr>PowerPoint Presentation</vt:lpstr>
      <vt:lpstr>PowerPoint Presentation</vt:lpstr>
      <vt:lpstr>Quick Sort</vt:lpstr>
      <vt:lpstr>Quick Sort</vt:lpstr>
      <vt:lpstr>Quick Sort</vt:lpstr>
      <vt:lpstr>Quick Sort</vt:lpstr>
      <vt:lpstr>Quick Sort</vt:lpstr>
      <vt:lpstr>Quick Sort</vt:lpstr>
      <vt:lpstr>Quick Sort</vt:lpstr>
      <vt:lpstr>Quick Sort</vt:lpstr>
      <vt:lpstr>Algorithm: QUICK_SORT(K,LB,UB)</vt:lpstr>
      <vt:lpstr>Stable Sorting Algorithm</vt:lpstr>
      <vt:lpstr>In-Place Sorting Algorithm</vt:lpstr>
      <vt:lpstr>Internal Sorting</vt:lpstr>
      <vt:lpstr>External Sorting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Searching &amp; Sorting - Data Structure</dc:title>
  <dc:creator>ADMIN</dc:creator>
  <cp:keywords>Searching &amp; Sorting, Data Structure, Darshan Institute of Engineering &amp; Technology, DIET</cp:keywords>
  <cp:lastModifiedBy>DELL</cp:lastModifiedBy>
  <cp:revision>1041</cp:revision>
  <dcterms:created xsi:type="dcterms:W3CDTF">2020-05-01T05:09:15Z</dcterms:created>
  <dcterms:modified xsi:type="dcterms:W3CDTF">2025-09-05T18:42:21Z</dcterms:modified>
</cp:coreProperties>
</file>